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two completed exploratory experiments: broad face-box fine-tuning and a separate eye-box fine-tuning run. It then presents region-specific feature localization on held-out images. The work measures SAE activation reconstruction and spatial association; it does not directly measure fairness or prove semantic concepts.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we used a pretrained Top-K SAE on the SDXL U-Net activation block. The generator stays fixed. A copy of the SAE is fine-tuned using residual vectors inside detector boxes, then evaluated on held-out samples. The feature analyses select on validation data and evaluate on test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set contains six race prompts crossed with two gender prompts, 12 prompt categories total. It has 1,200 images: 720 train, 240 validation, 240 test. Florence-2 proposals are noisy and unreviewed. The 16-by-16 activation grid is much coarser than an image; box boundaries can include nearby content or miss small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face run fine-tuned SAE activations at cells inside Florence-2 human-face boxes. On the test split, face-box MSE fell from 2.188 to 1.570, a 28.3% reduction. Outside-box MSE also improved from 2.133 to 1.769. The whole-grid score fell from 2.149 to 1.711. Because the SAE is reconstructing activations, not RGB images, these numbers do not by themselves say that generated faces look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 separate experiment initialized from the original pretrained SAE. Training loss used only activation vectors inside accepted eye boxes, with race/gender sampling balanced by category. The test comparison used 90 images with usable eye boxes. The eye MSE reduction was 16.2%. Across all 240 face-boxed test images, whole-face MSE improved about 10.1%. These remain activation reconstruction metrics; the run did not generate new RGB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sheet follows feature 3701 across checkpoints. It is selected as an eye-associated feature, but this broad face-box view shows where it activates on full face regions. The overlay is normalized per image; compare the location of activity more than raw color strength between different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compact strips use one Black Man held-out example per region to show the same sample across all six checkpoints. Full category-by-epoch sheets are saved in the run folder. Different parts use different features selected on validation data. Nose/ear boxes are especially sparse; this slide is an illustration, not a population-level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is mean activation in the part box minus mean activation in a reference area. It is not a correlation coefficient. Candidate ranking is done on validation data; confidence intervals are stratified image-bootstrap intervals on the held-out test split. Positive intervals support spatial association with these automatic boxes, not semantic identity. Ear comparison uses the rest of the image because ears can lie outside the face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IDs came from the existing feature-intervention runs and were fixed before this held-out analysis. Each score is mean activation inside the automatic part box minus activation in the reference area, with a stratified image-bootstrap 95% interval. The same feature can appear in multiple rows because several features associate with more than one part. Feature 1664 has the clearest nose-centered pattern, while 527 and 3725 associate with several regions. These are spatial associations, not proof of semantic identity or causal editing. The nose and ear estimates have sparse sample coverage, and intervals are unadjusted across 76 feature-region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careful summary. Both fine-tuning runs improved held-out SAE activation reconstruction. The region-specific candidates show positive held-out activation contrast. However, the automatic boxes are unreviewed and coverage varies sharply; nose has only 13 test images in four categories. The next steps are human review of part annotations, more usable nose/ear boxes, then evaluating interventions with direct outcome measures before making fairness claims.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63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966960" y="0"/>
            <a:ext cx="2240280" cy="6858000"/>
          </a:xfrm>
          <a:prstGeom prst="rect">
            <a:avLst/>
          </a:prstGeom>
          <a:solidFill>
            <a:srgbClr val="1E3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8686800" cy="1463040"/>
          </a:xfrm>
          <a:prstGeom prst="rect">
            <a:avLst/>
          </a:prstGeom>
          <a:noFill/>
        </p:spPr>
        <p:txBody>
          <a:bodyPr wrap="square" lIns="18288" rIns="18288" tIns="9144" bIns="9144">
            <a:spAutoFit/>
          </a:bodyPr>
          <a:lstStyle/>
          <a:p>
            <a:pPr algn="l">
              <a:defRPr sz="3100" b="1">
                <a:solidFill>
                  <a:srgbClr val="FFFFFF"/>
                </a:solidFill>
                <a:latin typeface="Aptos"/>
              </a:defRPr>
            </a:pPr>
            <a:r>
              <a:t>LOCALIZING FACE-RELATED</a:t>
            </a:r>
            <a:br/>
            <a:r>
              <a:t>ACTIVATIONS IN A PRETRAINED SAE</a:t>
            </a:r>
          </a:p>
        </p:txBody>
      </p:sp>
      <p:sp>
        <p:nvSpPr>
          <p:cNvPr id="5" name="TextBox 4"/>
          <p:cNvSpPr txBox="1"/>
          <p:nvPr/>
        </p:nvSpPr>
        <p:spPr>
          <a:xfrm>
            <a:off x="768096" y="2907792"/>
            <a:ext cx="8229600" cy="457200"/>
          </a:xfrm>
          <a:prstGeom prst="rect">
            <a:avLst/>
          </a:prstGeom>
          <a:noFill/>
        </p:spPr>
        <p:txBody>
          <a:bodyPr wrap="square" lIns="18288" rIns="18288" tIns="9144" bIns="9144">
            <a:spAutoFit/>
          </a:bodyPr>
          <a:lstStyle/>
          <a:p>
            <a:pPr algn="l">
              <a:defRPr sz="1900" b="0">
                <a:solidFill>
                  <a:srgbClr val="CADCE4"/>
                </a:solidFill>
                <a:latin typeface="Aptos"/>
              </a:defRPr>
            </a:pPr>
            <a:r>
              <a:t>Face-region fine-tuning and held-out feature localization</a:t>
            </a:r>
          </a:p>
        </p:txBody>
      </p:sp>
      <p:sp>
        <p:nvSpPr>
          <p:cNvPr id="6" name="TextBox 5"/>
          <p:cNvSpPr txBox="1"/>
          <p:nvPr/>
        </p:nvSpPr>
        <p:spPr>
          <a:xfrm>
            <a:off x="768096" y="5925312"/>
            <a:ext cx="7863840" cy="274320"/>
          </a:xfrm>
          <a:prstGeom prst="rect">
            <a:avLst/>
          </a:prstGeom>
          <a:noFill/>
        </p:spPr>
        <p:txBody>
          <a:bodyPr wrap="square" lIns="18288" rIns="18288" tIns="9144" bIns="9144">
            <a:spAutoFit/>
          </a:bodyPr>
          <a:lstStyle/>
          <a:p>
            <a:pPr algn="l">
              <a:defRPr sz="1300" b="0">
                <a:solidFill>
                  <a:srgbClr val="CADCE4"/>
                </a:solidFill>
                <a:latin typeface="Aptos"/>
              </a:defRPr>
            </a:pPr>
            <a:r>
              <a:t>Research update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Research question and experiment</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Can spatially focused fine-tuning improve reconstruction and reveal where SAE features activate?</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02</a:t>
            </a:r>
          </a:p>
        </p:txBody>
      </p:sp>
      <p:sp>
        <p:nvSpPr>
          <p:cNvPr id="7" name="Rounded Rectangle 6"/>
          <p:cNvSpPr/>
          <p:nvPr/>
        </p:nvSpPr>
        <p:spPr>
          <a:xfrm>
            <a:off x="731520" y="1965960"/>
            <a:ext cx="2487168" cy="1307592"/>
          </a:xfrm>
          <a:prstGeom prst="roundRect">
            <a:avLst/>
          </a:prstGeom>
          <a:solidFill>
            <a:srgbClr val="ECF1F7"/>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SDXL portrait</a:t>
            </a:r>
          </a:p>
        </p:txBody>
      </p:sp>
      <p:sp>
        <p:nvSpPr>
          <p:cNvPr id="10" name="TextBox 9"/>
          <p:cNvSpPr txBox="1"/>
          <p:nvPr/>
        </p:nvSpPr>
        <p:spPr>
          <a:xfrm>
            <a:off x="932688"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Generated image and saved U-Net activations</a:t>
            </a:r>
          </a:p>
        </p:txBody>
      </p:sp>
      <p:sp>
        <p:nvSpPr>
          <p:cNvPr id="11" name="TextBox 10"/>
          <p:cNvSpPr txBox="1"/>
          <p:nvPr/>
        </p:nvSpPr>
        <p:spPr>
          <a:xfrm>
            <a:off x="3255263"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12" name="Rounded Rectangle 11"/>
          <p:cNvSpPr/>
          <p:nvPr/>
        </p:nvSpPr>
        <p:spPr>
          <a:xfrm>
            <a:off x="3547872" y="1965960"/>
            <a:ext cx="2487168" cy="13075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47872"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Automatic boxes</a:t>
            </a:r>
          </a:p>
        </p:txBody>
      </p:sp>
      <p:sp>
        <p:nvSpPr>
          <p:cNvPr id="15" name="TextBox 14"/>
          <p:cNvSpPr txBox="1"/>
          <p:nvPr/>
        </p:nvSpPr>
        <p:spPr>
          <a:xfrm>
            <a:off x="3749039"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Florence-2 face and facial-part proposals</a:t>
            </a:r>
          </a:p>
        </p:txBody>
      </p:sp>
      <p:sp>
        <p:nvSpPr>
          <p:cNvPr id="16" name="TextBox 15"/>
          <p:cNvSpPr txBox="1"/>
          <p:nvPr/>
        </p:nvSpPr>
        <p:spPr>
          <a:xfrm>
            <a:off x="6071616"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17" name="Rounded Rectangle 16"/>
          <p:cNvSpPr/>
          <p:nvPr/>
        </p:nvSpPr>
        <p:spPr>
          <a:xfrm>
            <a:off x="6364224" y="1965960"/>
            <a:ext cx="2487168" cy="1307592"/>
          </a:xfrm>
          <a:prstGeom prst="roundRect">
            <a:avLst/>
          </a:prstGeom>
          <a:solidFill>
            <a:srgbClr val="ECF1F7"/>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Pretrained SAE</a:t>
            </a:r>
          </a:p>
        </p:txBody>
      </p:sp>
      <p:sp>
        <p:nvSpPr>
          <p:cNvPr id="20" name="TextBox 19"/>
          <p:cNvSpPr txBox="1"/>
          <p:nvPr/>
        </p:nvSpPr>
        <p:spPr>
          <a:xfrm>
            <a:off x="6565392"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5,120 latent features · Top-K sparse codes</a:t>
            </a:r>
          </a:p>
        </p:txBody>
      </p:sp>
      <p:sp>
        <p:nvSpPr>
          <p:cNvPr id="21" name="TextBox 20"/>
          <p:cNvSpPr txBox="1"/>
          <p:nvPr/>
        </p:nvSpPr>
        <p:spPr>
          <a:xfrm>
            <a:off x="8887967"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22" name="Rounded Rectangle 21"/>
          <p:cNvSpPr/>
          <p:nvPr/>
        </p:nvSpPr>
        <p:spPr>
          <a:xfrm>
            <a:off x="9180576" y="1965960"/>
            <a:ext cx="2487168" cy="13075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0576"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Fine-tune / evaluate</a:t>
            </a:r>
          </a:p>
        </p:txBody>
      </p:sp>
      <p:sp>
        <p:nvSpPr>
          <p:cNvPr id="25" name="TextBox 24"/>
          <p:cNvSpPr txBox="1"/>
          <p:nvPr/>
        </p:nvSpPr>
        <p:spPr>
          <a:xfrm>
            <a:off x="9381744"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Face-box and eye-box runs · held-out test</a:t>
            </a:r>
          </a:p>
        </p:txBody>
      </p:sp>
      <p:sp>
        <p:nvSpPr>
          <p:cNvPr id="26" name="Rounded Rectangle 25"/>
          <p:cNvSpPr/>
          <p:nvPr/>
        </p:nvSpPr>
        <p:spPr>
          <a:xfrm>
            <a:off x="731520" y="3822191"/>
            <a:ext cx="5212080" cy="13258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822191"/>
            <a:ext cx="64008" cy="13258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3959352"/>
            <a:ext cx="4846320" cy="310896"/>
          </a:xfrm>
          <a:prstGeom prst="rect">
            <a:avLst/>
          </a:prstGeom>
          <a:noFill/>
        </p:spPr>
        <p:txBody>
          <a:bodyPr wrap="square" lIns="18288" rIns="18288" tIns="9144" bIns="9144">
            <a:spAutoFit/>
          </a:bodyPr>
          <a:lstStyle/>
          <a:p>
            <a:pPr algn="l">
              <a:defRPr sz="1600" b="1">
                <a:solidFill>
                  <a:srgbClr val="17263A"/>
                </a:solidFill>
                <a:latin typeface="Aptos"/>
              </a:defRPr>
            </a:pPr>
            <a:r>
              <a:t>What changed</a:t>
            </a:r>
          </a:p>
        </p:txBody>
      </p:sp>
      <p:sp>
        <p:nvSpPr>
          <p:cNvPr id="29" name="TextBox 28"/>
          <p:cNvSpPr txBox="1"/>
          <p:nvPr/>
        </p:nvSpPr>
        <p:spPr>
          <a:xfrm>
            <a:off x="932688" y="4352544"/>
            <a:ext cx="4846320" cy="685800"/>
          </a:xfrm>
          <a:prstGeom prst="rect">
            <a:avLst/>
          </a:prstGeom>
          <a:noFill/>
        </p:spPr>
        <p:txBody>
          <a:bodyPr wrap="square" lIns="18288" rIns="18288" tIns="9144" bIns="9144">
            <a:spAutoFit/>
          </a:bodyPr>
          <a:lstStyle/>
          <a:p>
            <a:pPr algn="l">
              <a:defRPr sz="1400" b="0">
                <a:solidFill>
                  <a:srgbClr val="283240"/>
                </a:solidFill>
                <a:latin typeface="Aptos"/>
              </a:defRPr>
            </a:pPr>
            <a:r>
              <a:t>Only the SAE weights changed. No new latent nodes were added; the diffusion generator stayed frozen.</a:t>
            </a:r>
          </a:p>
        </p:txBody>
      </p:sp>
      <p:sp>
        <p:nvSpPr>
          <p:cNvPr id="30" name="Rounded Rectangle 29"/>
          <p:cNvSpPr/>
          <p:nvPr/>
        </p:nvSpPr>
        <p:spPr>
          <a:xfrm>
            <a:off x="6172200" y="3822191"/>
            <a:ext cx="5212080" cy="13258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3822191"/>
            <a:ext cx="64008" cy="13258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3959352"/>
            <a:ext cx="4846320" cy="310896"/>
          </a:xfrm>
          <a:prstGeom prst="rect">
            <a:avLst/>
          </a:prstGeom>
          <a:noFill/>
        </p:spPr>
        <p:txBody>
          <a:bodyPr wrap="square" lIns="18288" rIns="18288" tIns="9144" bIns="9144">
            <a:spAutoFit/>
          </a:bodyPr>
          <a:lstStyle/>
          <a:p>
            <a:pPr algn="l">
              <a:defRPr sz="1600" b="1">
                <a:solidFill>
                  <a:srgbClr val="17263A"/>
                </a:solidFill>
                <a:latin typeface="Aptos"/>
              </a:defRPr>
            </a:pPr>
            <a:r>
              <a:t>What we measure</a:t>
            </a:r>
          </a:p>
        </p:txBody>
      </p:sp>
      <p:sp>
        <p:nvSpPr>
          <p:cNvPr id="33" name="TextBox 32"/>
          <p:cNvSpPr txBox="1"/>
          <p:nvPr/>
        </p:nvSpPr>
        <p:spPr>
          <a:xfrm>
            <a:off x="6373368" y="4352544"/>
            <a:ext cx="4846320" cy="685800"/>
          </a:xfrm>
          <a:prstGeom prst="rect">
            <a:avLst/>
          </a:prstGeom>
          <a:noFill/>
        </p:spPr>
        <p:txBody>
          <a:bodyPr wrap="square" lIns="18288" rIns="18288" tIns="9144" bIns="9144">
            <a:spAutoFit/>
          </a:bodyPr>
          <a:lstStyle/>
          <a:p>
            <a:pPr algn="l">
              <a:defRPr sz="1400" b="0">
                <a:solidFill>
                  <a:srgbClr val="283240"/>
                </a:solidFill>
                <a:latin typeface="Aptos"/>
              </a:defRPr>
            </a:pPr>
            <a:r>
              <a:t>Reconstruction MSE and feature activation inside annotated regions. These are not direct fairness or image-editing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Data and annotation setup</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The same 1,200-image portrait set supports the face and eye SAE experiments.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03</a:t>
            </a:r>
          </a:p>
        </p:txBody>
      </p:sp>
      <p:sp>
        <p:nvSpPr>
          <p:cNvPr id="7" name="Rounded Rectangle 6"/>
          <p:cNvSpPr/>
          <p:nvPr/>
        </p:nvSpPr>
        <p:spPr>
          <a:xfrm>
            <a:off x="777240"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 cy="135331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1,200 portraits</a:t>
            </a:r>
          </a:p>
        </p:txBody>
      </p:sp>
      <p:sp>
        <p:nvSpPr>
          <p:cNvPr id="10" name="TextBox 9"/>
          <p:cNvSpPr txBox="1"/>
          <p:nvPr/>
        </p:nvSpPr>
        <p:spPr>
          <a:xfrm>
            <a:off x="978408"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12 prompt categories</a:t>
            </a:r>
            <a:br/>
            <a:r>
              <a:t>720 train · 240 validation · 240 test</a:t>
            </a:r>
          </a:p>
        </p:txBody>
      </p:sp>
      <p:sp>
        <p:nvSpPr>
          <p:cNvPr id="11" name="Rounded Rectangle 10"/>
          <p:cNvSpPr/>
          <p:nvPr/>
        </p:nvSpPr>
        <p:spPr>
          <a:xfrm>
            <a:off x="4416552"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6552" y="1783080"/>
            <a:ext cx="64008" cy="135331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Spatial supervision</a:t>
            </a:r>
          </a:p>
        </p:txBody>
      </p:sp>
      <p:sp>
        <p:nvSpPr>
          <p:cNvPr id="14" name="TextBox 13"/>
          <p:cNvSpPr txBox="1"/>
          <p:nvPr/>
        </p:nvSpPr>
        <p:spPr>
          <a:xfrm>
            <a:off x="4617720"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Automatic Florence-2 boxes</a:t>
            </a:r>
            <a:br/>
            <a:r>
              <a:t>Mapped to a 16 × 16 activation grid</a:t>
            </a:r>
          </a:p>
        </p:txBody>
      </p:sp>
      <p:sp>
        <p:nvSpPr>
          <p:cNvPr id="15" name="Rounded Rectangle 14"/>
          <p:cNvSpPr/>
          <p:nvPr/>
        </p:nvSpPr>
        <p:spPr>
          <a:xfrm>
            <a:off x="8046720"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783080"/>
            <a:ext cx="64008" cy="135331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Held-out evaluation</a:t>
            </a:r>
          </a:p>
        </p:txBody>
      </p:sp>
      <p:sp>
        <p:nvSpPr>
          <p:cNvPr id="18" name="TextBox 17"/>
          <p:cNvSpPr txBox="1"/>
          <p:nvPr/>
        </p:nvSpPr>
        <p:spPr>
          <a:xfrm>
            <a:off x="8247888"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Feature selection on validation</a:t>
            </a:r>
            <a:br/>
            <a:r>
              <a:t>Final measurements on test</a:t>
            </a:r>
          </a:p>
        </p:txBody>
      </p:sp>
      <p:sp>
        <p:nvSpPr>
          <p:cNvPr id="19" name="TextBox 18"/>
          <p:cNvSpPr txBox="1"/>
          <p:nvPr/>
        </p:nvSpPr>
        <p:spPr>
          <a:xfrm>
            <a:off x="822960" y="3657600"/>
            <a:ext cx="3657600" cy="320040"/>
          </a:xfrm>
          <a:prstGeom prst="rect">
            <a:avLst/>
          </a:prstGeom>
          <a:noFill/>
        </p:spPr>
        <p:txBody>
          <a:bodyPr wrap="square" lIns="18288" rIns="18288" tIns="9144" bIns="9144">
            <a:spAutoFit/>
          </a:bodyPr>
          <a:lstStyle/>
          <a:p>
            <a:pPr algn="l">
              <a:defRPr sz="1800" b="1">
                <a:solidFill>
                  <a:srgbClr val="17263A"/>
                </a:solidFill>
                <a:latin typeface="Aptos"/>
              </a:defRPr>
            </a:pPr>
            <a:r>
              <a:t>Important annotation limits</a:t>
            </a:r>
          </a:p>
        </p:txBody>
      </p:sp>
      <p:sp>
        <p:nvSpPr>
          <p:cNvPr id="20" name="TextBox 19"/>
          <p:cNvSpPr txBox="1"/>
          <p:nvPr/>
        </p:nvSpPr>
        <p:spPr>
          <a:xfrm>
            <a:off x="868680" y="4096512"/>
            <a:ext cx="10332720" cy="1325880"/>
          </a:xfrm>
          <a:prstGeom prst="rect">
            <a:avLst/>
          </a:prstGeom>
          <a:noFill/>
        </p:spPr>
        <p:txBody>
          <a:bodyPr wrap="square" lIns="18288" rIns="18288" tIns="9144" bIns="9144">
            <a:spAutoFit/>
          </a:bodyPr>
          <a:lstStyle/>
          <a:p>
            <a:pPr algn="l">
              <a:defRPr sz="1800" b="0">
                <a:solidFill>
                  <a:srgbClr val="283240"/>
                </a:solidFill>
                <a:latin typeface="Aptos"/>
              </a:defRPr>
            </a:pPr>
            <a:r>
              <a:t>• Boxes are automatic, not human-verified.</a:t>
            </a:r>
            <a:br/>
            <a:r>
              <a:t>• Small facial parts are detected inconsistently.</a:t>
            </a:r>
            <a:br/>
            <a:r>
              <a:t>• Missing boxes mean missing visual examples, not absence of the part.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Face-box fine-tuning improved held-out reconstruction</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Best checkpoint: epoch 20 · 240 held-out test images · lower MSE is better</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04</a:t>
            </a:r>
          </a:p>
        </p:txBody>
      </p:sp>
      <p:pic>
        <p:nvPicPr>
          <p:cNvPr id="7" name="Picture 6" descr="training_and_test_metrics.png"/>
          <p:cNvPicPr>
            <a:picLocks noChangeAspect="1"/>
          </p:cNvPicPr>
          <p:nvPr/>
        </p:nvPicPr>
        <p:blipFill>
          <a:blip r:embed="rId3"/>
          <a:stretch>
            <a:fillRect/>
          </a:stretch>
        </p:blipFill>
        <p:spPr>
          <a:xfrm>
            <a:off x="594360" y="2671629"/>
            <a:ext cx="7452360" cy="2401708"/>
          </a:xfrm>
          <a:prstGeom prst="rect">
            <a:avLst/>
          </a:prstGeom>
        </p:spPr>
      </p:pic>
      <p:sp>
        <p:nvSpPr>
          <p:cNvPr id="8" name="Rounded Rectangle 7"/>
          <p:cNvSpPr/>
          <p:nvPr/>
        </p:nvSpPr>
        <p:spPr>
          <a:xfrm>
            <a:off x="8275320" y="1828800"/>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75320" y="1828800"/>
            <a:ext cx="64008" cy="10789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1965960"/>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Inside face box</a:t>
            </a:r>
          </a:p>
        </p:txBody>
      </p:sp>
      <p:sp>
        <p:nvSpPr>
          <p:cNvPr id="11" name="TextBox 10"/>
          <p:cNvSpPr txBox="1"/>
          <p:nvPr/>
        </p:nvSpPr>
        <p:spPr>
          <a:xfrm>
            <a:off x="8476488" y="2359152"/>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2.188 → 1.570</a:t>
            </a:r>
            <a:br/>
            <a:r>
              <a:t>28.3% lower</a:t>
            </a:r>
          </a:p>
        </p:txBody>
      </p:sp>
      <p:sp>
        <p:nvSpPr>
          <p:cNvPr id="12" name="Rounded Rectangle 11"/>
          <p:cNvSpPr/>
          <p:nvPr/>
        </p:nvSpPr>
        <p:spPr>
          <a:xfrm>
            <a:off x="8275320" y="3136392"/>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75320" y="3136392"/>
            <a:ext cx="64008" cy="107899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3273552"/>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Outside face box</a:t>
            </a:r>
          </a:p>
        </p:txBody>
      </p:sp>
      <p:sp>
        <p:nvSpPr>
          <p:cNvPr id="15" name="TextBox 14"/>
          <p:cNvSpPr txBox="1"/>
          <p:nvPr/>
        </p:nvSpPr>
        <p:spPr>
          <a:xfrm>
            <a:off x="8476488" y="3666744"/>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2.133 → 1.769</a:t>
            </a:r>
            <a:br/>
            <a:r>
              <a:t>17.1% lower</a:t>
            </a:r>
          </a:p>
        </p:txBody>
      </p:sp>
      <p:sp>
        <p:nvSpPr>
          <p:cNvPr id="16" name="Rounded Rectangle 15"/>
          <p:cNvSpPr/>
          <p:nvPr/>
        </p:nvSpPr>
        <p:spPr>
          <a:xfrm>
            <a:off x="8275320" y="4443984"/>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4443984"/>
            <a:ext cx="64008" cy="10789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4581144"/>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Whole activation grid</a:t>
            </a:r>
          </a:p>
        </p:txBody>
      </p:sp>
      <p:sp>
        <p:nvSpPr>
          <p:cNvPr id="19" name="TextBox 18"/>
          <p:cNvSpPr txBox="1"/>
          <p:nvPr/>
        </p:nvSpPr>
        <p:spPr>
          <a:xfrm>
            <a:off x="8476488" y="4974336"/>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2.149 → 1.711</a:t>
            </a:r>
            <a:br/>
            <a:r>
              <a:t>20.4% lower</a:t>
            </a:r>
          </a:p>
        </p:txBody>
      </p:sp>
      <p:sp>
        <p:nvSpPr>
          <p:cNvPr id="20" name="TextBox 19"/>
          <p:cNvSpPr txBox="1"/>
          <p:nvPr/>
        </p:nvSpPr>
        <p:spPr>
          <a:xfrm>
            <a:off x="822960" y="6172200"/>
            <a:ext cx="10515600" cy="228600"/>
          </a:xfrm>
          <a:prstGeom prst="rect">
            <a:avLst/>
          </a:prstGeom>
          <a:noFill/>
        </p:spPr>
        <p:txBody>
          <a:bodyPr wrap="square" lIns="18288" rIns="18288" tIns="9144" bIns="9144">
            <a:spAutoFit/>
          </a:bodyPr>
          <a:lstStyle/>
          <a:p>
            <a:pPr algn="l">
              <a:defRPr sz="1200" b="0">
                <a:solidFill>
                  <a:srgbClr val="66717F"/>
                </a:solidFill>
                <a:latin typeface="Aptos"/>
              </a:defRPr>
            </a:pPr>
            <a:r>
              <a:t>Reconstruction is measured in SAE activation space, not pixel 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Eye-focused fine-tuning also improved test reconstruction</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Separate 20-epoch run · selected by validation eye MSE</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05</a:t>
            </a:r>
          </a:p>
        </p:txBody>
      </p:sp>
      <p:graphicFrame>
        <p:nvGraphicFramePr>
          <p:cNvPr id="7" name="Table 6"/>
          <p:cNvGraphicFramePr>
            <a:graphicFrameLocks noGrp="1"/>
          </p:cNvGraphicFramePr>
          <p:nvPr/>
        </p:nvGraphicFramePr>
        <p:xfrm>
          <a:off x="777240" y="1828800"/>
          <a:ext cx="9601200" cy="2834640"/>
        </p:xfrm>
        <a:graphic>
          <a:graphicData uri="http://schemas.openxmlformats.org/drawingml/2006/table">
            <a:tbl>
              <a:tblPr firstRow="1" bandRow="1">
                <a:tableStyleId>{5C22544A-7EE6-4342-B048-85BDC9FD1C3A}</a:tableStyleId>
              </a:tblPr>
              <a:tblGrid>
                <a:gridCol w="3108960"/>
                <a:gridCol w="2331720"/>
                <a:gridCol w="2331720"/>
                <a:gridCol w="1828800"/>
              </a:tblGrid>
              <a:tr h="566928">
                <a:tc>
                  <a:txBody>
                    <a:bodyPr/>
                    <a:lstStyle/>
                    <a:p>
                      <a:pPr>
                        <a:defRPr sz="1500" b="1">
                          <a:solidFill>
                            <a:srgbClr val="FFFFFF"/>
                          </a:solidFill>
                          <a:latin typeface="Aptos"/>
                        </a:defRPr>
                      </a:pPr>
                      <a:r>
                        <a:t>Test metric</a:t>
                      </a:r>
                    </a:p>
                  </a:txBody>
                  <a:tcPr marL="82296" marR="64008" marT="32004" marB="22860" anchor="ctr">
                    <a:solidFill>
                      <a:srgbClr val="17263A"/>
                    </a:solidFill>
                  </a:tcPr>
                </a:tc>
                <a:tc>
                  <a:txBody>
                    <a:bodyPr/>
                    <a:lstStyle/>
                    <a:p>
                      <a:pPr>
                        <a:defRPr sz="1500" b="1">
                          <a:solidFill>
                            <a:srgbClr val="FFFFFF"/>
                          </a:solidFill>
                          <a:latin typeface="Aptos"/>
                        </a:defRPr>
                      </a:pPr>
                      <a:r>
                        <a:t>Original SAE</a:t>
                      </a:r>
                    </a:p>
                  </a:txBody>
                  <a:tcPr marL="82296" marR="64008" marT="32004" marB="22860" anchor="ctr">
                    <a:solidFill>
                      <a:srgbClr val="17263A"/>
                    </a:solidFill>
                  </a:tcPr>
                </a:tc>
                <a:tc>
                  <a:txBody>
                    <a:bodyPr/>
                    <a:lstStyle/>
                    <a:p>
                      <a:pPr>
                        <a:defRPr sz="1500" b="1">
                          <a:solidFill>
                            <a:srgbClr val="FFFFFF"/>
                          </a:solidFill>
                          <a:latin typeface="Aptos"/>
                        </a:defRPr>
                      </a:pPr>
                      <a:r>
                        <a:t>Eye-fine-tuned</a:t>
                      </a:r>
                    </a:p>
                  </a:txBody>
                  <a:tcPr marL="82296" marR="64008" marT="32004" marB="22860" anchor="ctr">
                    <a:solidFill>
                      <a:srgbClr val="17263A"/>
                    </a:solidFill>
                  </a:tcPr>
                </a:tc>
                <a:tc>
                  <a:txBody>
                    <a:bodyPr/>
                    <a:lstStyle/>
                    <a:p>
                      <a:pPr>
                        <a:defRPr sz="1500" b="1">
                          <a:solidFill>
                            <a:srgbClr val="FFFFFF"/>
                          </a:solidFill>
                          <a:latin typeface="Aptos"/>
                        </a:defRPr>
                      </a:pPr>
                      <a:r>
                        <a:t>Change</a:t>
                      </a:r>
                    </a:p>
                  </a:txBody>
                  <a:tcPr marL="82296" marR="64008" marT="32004" marB="22860" anchor="ctr">
                    <a:solidFill>
                      <a:srgbClr val="17263A"/>
                    </a:solidFill>
                  </a:tcPr>
                </a:tc>
              </a:tr>
              <a:tr h="566928">
                <a:tc>
                  <a:txBody>
                    <a:bodyPr/>
                    <a:lstStyle/>
                    <a:p>
                      <a:pPr>
                        <a:defRPr sz="1500" b="1">
                          <a:solidFill>
                            <a:srgbClr val="283240"/>
                          </a:solidFill>
                          <a:latin typeface="Aptos"/>
                        </a:defRPr>
                      </a:pPr>
                      <a:r>
                        <a:t>Eye-box MSE · 90 images</a:t>
                      </a:r>
                    </a:p>
                  </a:txBody>
                  <a:tcPr marL="82296" marR="64008" marT="32004" marB="22860" anchor="ctr">
                    <a:solidFill>
                      <a:srgbClr val="E8F4F3"/>
                    </a:solidFill>
                  </a:tcPr>
                </a:tc>
                <a:tc>
                  <a:txBody>
                    <a:bodyPr/>
                    <a:lstStyle/>
                    <a:p>
                      <a:pPr>
                        <a:defRPr sz="1500" b="1">
                          <a:solidFill>
                            <a:srgbClr val="283240"/>
                          </a:solidFill>
                          <a:latin typeface="Aptos"/>
                        </a:defRPr>
                      </a:pPr>
                      <a:r>
                        <a:t>2.1007</a:t>
                      </a:r>
                    </a:p>
                  </a:txBody>
                  <a:tcPr marL="82296" marR="64008" marT="32004" marB="22860" anchor="ctr">
                    <a:solidFill>
                      <a:srgbClr val="E8F4F3"/>
                    </a:solidFill>
                  </a:tcPr>
                </a:tc>
                <a:tc>
                  <a:txBody>
                    <a:bodyPr/>
                    <a:lstStyle/>
                    <a:p>
                      <a:pPr>
                        <a:defRPr sz="1500" b="1">
                          <a:solidFill>
                            <a:srgbClr val="283240"/>
                          </a:solidFill>
                          <a:latin typeface="Aptos"/>
                        </a:defRPr>
                      </a:pPr>
                      <a:r>
                        <a:t>1.7608</a:t>
                      </a:r>
                    </a:p>
                  </a:txBody>
                  <a:tcPr marL="82296" marR="64008" marT="32004" marB="22860" anchor="ctr">
                    <a:solidFill>
                      <a:srgbClr val="E8F4F3"/>
                    </a:solidFill>
                  </a:tcPr>
                </a:tc>
                <a:tc>
                  <a:txBody>
                    <a:bodyPr/>
                    <a:lstStyle/>
                    <a:p>
                      <a:pPr>
                        <a:defRPr sz="1500" b="1">
                          <a:solidFill>
                            <a:srgbClr val="283240"/>
                          </a:solidFill>
                          <a:latin typeface="Aptos"/>
                        </a:defRPr>
                      </a:pPr>
                      <a:r>
                        <a:t>−16.2%</a:t>
                      </a:r>
                    </a:p>
                  </a:txBody>
                  <a:tcPr marL="82296" marR="64008" marT="32004" marB="22860" anchor="ctr">
                    <a:solidFill>
                      <a:srgbClr val="E8F4F3"/>
                    </a:solidFill>
                  </a:tcPr>
                </a:tc>
              </a:tr>
              <a:tr h="566928">
                <a:tc>
                  <a:txBody>
                    <a:bodyPr/>
                    <a:lstStyle/>
                    <a:p>
                      <a:pPr>
                        <a:defRPr sz="1500" b="0">
                          <a:solidFill>
                            <a:srgbClr val="283240"/>
                          </a:solidFill>
                          <a:latin typeface="Aptos"/>
                        </a:defRPr>
                      </a:pPr>
                      <a:r>
                        <a:t>Whole face · same 90</a:t>
                      </a:r>
                    </a:p>
                  </a:txBody>
                  <a:tcPr marL="82296" marR="64008" marT="32004" marB="22860" anchor="ctr">
                    <a:solidFill>
                      <a:srgbClr val="FFFFFF"/>
                    </a:solidFill>
                  </a:tcPr>
                </a:tc>
                <a:tc>
                  <a:txBody>
                    <a:bodyPr/>
                    <a:lstStyle/>
                    <a:p>
                      <a:pPr>
                        <a:defRPr sz="1500" b="0">
                          <a:solidFill>
                            <a:srgbClr val="283240"/>
                          </a:solidFill>
                          <a:latin typeface="Aptos"/>
                        </a:defRPr>
                      </a:pPr>
                      <a:r>
                        <a:t>2.1485</a:t>
                      </a:r>
                    </a:p>
                  </a:txBody>
                  <a:tcPr marL="82296" marR="64008" marT="32004" marB="22860" anchor="ctr">
                    <a:solidFill>
                      <a:srgbClr val="FFFFFF"/>
                    </a:solidFill>
                  </a:tcPr>
                </a:tc>
                <a:tc>
                  <a:txBody>
                    <a:bodyPr/>
                    <a:lstStyle/>
                    <a:p>
                      <a:pPr>
                        <a:defRPr sz="1500" b="0">
                          <a:solidFill>
                            <a:srgbClr val="283240"/>
                          </a:solidFill>
                          <a:latin typeface="Aptos"/>
                        </a:defRPr>
                      </a:pPr>
                      <a:r>
                        <a:t>1.9282</a:t>
                      </a:r>
                    </a:p>
                  </a:txBody>
                  <a:tcPr marL="82296" marR="64008" marT="32004" marB="22860" anchor="ctr">
                    <a:solidFill>
                      <a:srgbClr val="FFFFFF"/>
                    </a:solidFill>
                  </a:tcPr>
                </a:tc>
                <a:tc>
                  <a:txBody>
                    <a:bodyPr/>
                    <a:lstStyle/>
                    <a:p>
                      <a:pPr>
                        <a:defRPr sz="1500" b="0">
                          <a:solidFill>
                            <a:srgbClr val="283240"/>
                          </a:solidFill>
                          <a:latin typeface="Aptos"/>
                        </a:defRPr>
                      </a:pPr>
                      <a:r>
                        <a:t>−10.3%</a:t>
                      </a:r>
                    </a:p>
                  </a:txBody>
                  <a:tcPr marL="82296" marR="64008" marT="32004" marB="22860" anchor="ctr">
                    <a:solidFill>
                      <a:srgbClr val="FFFFFF"/>
                    </a:solidFill>
                  </a:tcPr>
                </a:tc>
              </a:tr>
              <a:tr h="566928">
                <a:tc>
                  <a:txBody>
                    <a:bodyPr/>
                    <a:lstStyle/>
                    <a:p>
                      <a:pPr>
                        <a:defRPr sz="1500" b="0">
                          <a:solidFill>
                            <a:srgbClr val="283240"/>
                          </a:solidFill>
                          <a:latin typeface="Aptos"/>
                        </a:defRPr>
                      </a:pPr>
                      <a:r>
                        <a:t>Whole face · all 240</a:t>
                      </a:r>
                    </a:p>
                  </a:txBody>
                  <a:tcPr marL="82296" marR="64008" marT="32004" marB="22860" anchor="ctr">
                    <a:solidFill>
                      <a:srgbClr val="FFFFFF"/>
                    </a:solidFill>
                  </a:tcPr>
                </a:tc>
                <a:tc>
                  <a:txBody>
                    <a:bodyPr/>
                    <a:lstStyle/>
                    <a:p>
                      <a:pPr>
                        <a:defRPr sz="1500" b="0">
                          <a:solidFill>
                            <a:srgbClr val="283240"/>
                          </a:solidFill>
                          <a:latin typeface="Aptos"/>
                        </a:defRPr>
                      </a:pPr>
                      <a:r>
                        <a:t>2.1881</a:t>
                      </a:r>
                    </a:p>
                  </a:txBody>
                  <a:tcPr marL="82296" marR="64008" marT="32004" marB="22860" anchor="ctr">
                    <a:solidFill>
                      <a:srgbClr val="FFFFFF"/>
                    </a:solidFill>
                  </a:tcPr>
                </a:tc>
                <a:tc>
                  <a:txBody>
                    <a:bodyPr/>
                    <a:lstStyle/>
                    <a:p>
                      <a:pPr>
                        <a:defRPr sz="1500" b="0">
                          <a:solidFill>
                            <a:srgbClr val="283240"/>
                          </a:solidFill>
                          <a:latin typeface="Aptos"/>
                        </a:defRPr>
                      </a:pPr>
                      <a:r>
                        <a:t>1.9671</a:t>
                      </a:r>
                    </a:p>
                  </a:txBody>
                  <a:tcPr marL="82296" marR="64008" marT="32004" marB="22860" anchor="ctr">
                    <a:solidFill>
                      <a:srgbClr val="FFFFFF"/>
                    </a:solidFill>
                  </a:tcPr>
                </a:tc>
                <a:tc>
                  <a:txBody>
                    <a:bodyPr/>
                    <a:lstStyle/>
                    <a:p>
                      <a:pPr>
                        <a:defRPr sz="1500" b="0">
                          <a:solidFill>
                            <a:srgbClr val="283240"/>
                          </a:solidFill>
                          <a:latin typeface="Aptos"/>
                        </a:defRPr>
                      </a:pPr>
                      <a:r>
                        <a:t>−10.1%</a:t>
                      </a:r>
                    </a:p>
                  </a:txBody>
                  <a:tcPr marL="82296" marR="64008" marT="32004" marB="22860" anchor="ctr">
                    <a:solidFill>
                      <a:srgbClr val="FFFFFF"/>
                    </a:solidFill>
                  </a:tcPr>
                </a:tc>
              </a:tr>
              <a:tr h="566928">
                <a:tc>
                  <a:txBody>
                    <a:bodyPr/>
                    <a:lstStyle/>
                    <a:p>
                      <a:pPr>
                        <a:defRPr sz="1500" b="0">
                          <a:solidFill>
                            <a:srgbClr val="283240"/>
                          </a:solidFill>
                          <a:latin typeface="Aptos"/>
                        </a:defRPr>
                      </a:pPr>
                      <a:r>
                        <a:t>All cells · all 240</a:t>
                      </a:r>
                    </a:p>
                  </a:txBody>
                  <a:tcPr marL="82296" marR="64008" marT="32004" marB="22860" anchor="ctr">
                    <a:solidFill>
                      <a:srgbClr val="FFFFFF"/>
                    </a:solidFill>
                  </a:tcPr>
                </a:tc>
                <a:tc>
                  <a:txBody>
                    <a:bodyPr/>
                    <a:lstStyle/>
                    <a:p>
                      <a:pPr>
                        <a:defRPr sz="1500" b="0">
                          <a:solidFill>
                            <a:srgbClr val="283240"/>
                          </a:solidFill>
                          <a:latin typeface="Aptos"/>
                        </a:defRPr>
                      </a:pPr>
                      <a:r>
                        <a:t>2.1491</a:t>
                      </a:r>
                    </a:p>
                  </a:txBody>
                  <a:tcPr marL="82296" marR="64008" marT="32004" marB="22860" anchor="ctr">
                    <a:solidFill>
                      <a:srgbClr val="FFFFFF"/>
                    </a:solidFill>
                  </a:tcPr>
                </a:tc>
                <a:tc>
                  <a:txBody>
                    <a:bodyPr/>
                    <a:lstStyle/>
                    <a:p>
                      <a:pPr>
                        <a:defRPr sz="1500" b="0">
                          <a:solidFill>
                            <a:srgbClr val="283240"/>
                          </a:solidFill>
                          <a:latin typeface="Aptos"/>
                        </a:defRPr>
                      </a:pPr>
                      <a:r>
                        <a:t>2.0307</a:t>
                      </a:r>
                    </a:p>
                  </a:txBody>
                  <a:tcPr marL="82296" marR="64008" marT="32004" marB="22860" anchor="ctr">
                    <a:solidFill>
                      <a:srgbClr val="FFFFFF"/>
                    </a:solidFill>
                  </a:tcPr>
                </a:tc>
                <a:tc>
                  <a:txBody>
                    <a:bodyPr/>
                    <a:lstStyle/>
                    <a:p>
                      <a:pPr>
                        <a:defRPr sz="1500" b="0">
                          <a:solidFill>
                            <a:srgbClr val="283240"/>
                          </a:solidFill>
                          <a:latin typeface="Aptos"/>
                        </a:defRPr>
                      </a:pPr>
                      <a:r>
                        <a:t>−5.5%</a:t>
                      </a:r>
                    </a:p>
                  </a:txBody>
                  <a:tcPr marL="82296" marR="64008" marT="32004" marB="22860" anchor="ctr">
                    <a:solidFill>
                      <a:srgbClr val="FFFFFF"/>
                    </a:solidFill>
                  </a:tcPr>
                </a:tc>
              </a:tr>
            </a:tbl>
          </a:graphicData>
        </a:graphic>
      </p:graphicFrame>
      <p:sp>
        <p:nvSpPr>
          <p:cNvPr id="8" name="Rounded Rectangle 7"/>
          <p:cNvSpPr/>
          <p:nvPr/>
        </p:nvSpPr>
        <p:spPr>
          <a:xfrm>
            <a:off x="822960" y="5010912"/>
            <a:ext cx="5029200" cy="8686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5010912"/>
            <a:ext cx="64008" cy="8686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084064"/>
            <a:ext cx="4663440" cy="219456"/>
          </a:xfrm>
          <a:prstGeom prst="rect">
            <a:avLst/>
          </a:prstGeom>
          <a:noFill/>
        </p:spPr>
        <p:txBody>
          <a:bodyPr wrap="square" lIns="18288" rIns="18288" tIns="9144" bIns="9144">
            <a:spAutoFit/>
          </a:bodyPr>
          <a:lstStyle/>
          <a:p>
            <a:pPr algn="l">
              <a:defRPr sz="1500" b="1">
                <a:solidFill>
                  <a:srgbClr val="17263A"/>
                </a:solidFill>
                <a:latin typeface="Aptos"/>
              </a:defRPr>
            </a:pPr>
            <a:r>
              <a:t>Training scope</a:t>
            </a:r>
          </a:p>
        </p:txBody>
      </p:sp>
      <p:sp>
        <p:nvSpPr>
          <p:cNvPr id="11" name="TextBox 10"/>
          <p:cNvSpPr txBox="1"/>
          <p:nvPr/>
        </p:nvSpPr>
        <p:spPr>
          <a:xfrm>
            <a:off x="1024128" y="5349240"/>
            <a:ext cx="4663440" cy="484632"/>
          </a:xfrm>
          <a:prstGeom prst="rect">
            <a:avLst/>
          </a:prstGeom>
          <a:noFill/>
        </p:spPr>
        <p:txBody>
          <a:bodyPr wrap="square" lIns="18288" rIns="18288" tIns="9144" bIns="9144">
            <a:spAutoFit/>
          </a:bodyPr>
          <a:lstStyle/>
          <a:p>
            <a:pPr algn="l">
              <a:defRPr sz="1300" b="0">
                <a:solidFill>
                  <a:srgbClr val="283240"/>
                </a:solidFill>
                <a:latin typeface="Aptos"/>
              </a:defRPr>
            </a:pPr>
            <a:r>
              <a:t>Updates SAE weights; does not train the image generator or add features.</a:t>
            </a:r>
          </a:p>
        </p:txBody>
      </p:sp>
      <p:sp>
        <p:nvSpPr>
          <p:cNvPr id="12" name="Rounded Rectangle 11"/>
          <p:cNvSpPr/>
          <p:nvPr/>
        </p:nvSpPr>
        <p:spPr>
          <a:xfrm>
            <a:off x="6172200" y="5010912"/>
            <a:ext cx="5029200" cy="8686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5010912"/>
            <a:ext cx="64008" cy="8686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5084064"/>
            <a:ext cx="4663440" cy="219456"/>
          </a:xfrm>
          <a:prstGeom prst="rect">
            <a:avLst/>
          </a:prstGeom>
          <a:noFill/>
        </p:spPr>
        <p:txBody>
          <a:bodyPr wrap="square" lIns="18288" rIns="18288" tIns="9144" bIns="9144">
            <a:spAutoFit/>
          </a:bodyPr>
          <a:lstStyle/>
          <a:p>
            <a:pPr algn="l">
              <a:defRPr sz="1500" b="1">
                <a:solidFill>
                  <a:srgbClr val="17263A"/>
                </a:solidFill>
                <a:latin typeface="Aptos"/>
              </a:defRPr>
            </a:pPr>
            <a:r>
              <a:t>Interpretation</a:t>
            </a:r>
          </a:p>
        </p:txBody>
      </p:sp>
      <p:sp>
        <p:nvSpPr>
          <p:cNvPr id="15" name="TextBox 14"/>
          <p:cNvSpPr txBox="1"/>
          <p:nvPr/>
        </p:nvSpPr>
        <p:spPr>
          <a:xfrm>
            <a:off x="6373368" y="5349240"/>
            <a:ext cx="4663440" cy="484632"/>
          </a:xfrm>
          <a:prstGeom prst="rect">
            <a:avLst/>
          </a:prstGeom>
          <a:noFill/>
        </p:spPr>
        <p:txBody>
          <a:bodyPr wrap="square" lIns="18288" rIns="18288" tIns="9144" bIns="9144">
            <a:spAutoFit/>
          </a:bodyPr>
          <a:lstStyle/>
          <a:p>
            <a:pPr algn="l">
              <a:defRPr sz="1300" b="0">
                <a:solidFill>
                  <a:srgbClr val="283240"/>
                </a:solidFill>
                <a:latin typeface="Aptos"/>
              </a:defRPr>
            </a:pPr>
            <a:r>
              <a:t>Better activation reconstruction does not prove eye-specific semantics.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Activation maps across training checkpoints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Same held-out portraits · same feature · epochs 0, 4, 8, 12, 16, and 20</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06</a:t>
            </a:r>
          </a:p>
        </p:txBody>
      </p:sp>
      <p:pic>
        <p:nvPicPr>
          <p:cNvPr id="7" name="Picture 6" descr="feature_3701.jpg"/>
          <p:cNvPicPr>
            <a:picLocks noChangeAspect="1"/>
          </p:cNvPicPr>
          <p:nvPr/>
        </p:nvPicPr>
        <p:blipFill>
          <a:blip r:embed="rId3"/>
          <a:stretch>
            <a:fillRect/>
          </a:stretch>
        </p:blipFill>
        <p:spPr>
          <a:xfrm>
            <a:off x="4888485" y="1627632"/>
            <a:ext cx="2475988" cy="4526280"/>
          </a:xfrm>
          <a:prstGeom prst="rect">
            <a:avLst/>
          </a:prstGeom>
        </p:spPr>
      </p:pic>
      <p:sp>
        <p:nvSpPr>
          <p:cNvPr id="8" name="TextBox 7"/>
          <p:cNvSpPr txBox="1"/>
          <p:nvPr/>
        </p:nvSpPr>
        <p:spPr>
          <a:xfrm>
            <a:off x="822960" y="6236208"/>
            <a:ext cx="10332720" cy="228600"/>
          </a:xfrm>
          <a:prstGeom prst="rect">
            <a:avLst/>
          </a:prstGeom>
          <a:noFill/>
        </p:spPr>
        <p:txBody>
          <a:bodyPr wrap="square" lIns="18288" rIns="18288" tIns="9144" bIns="9144">
            <a:spAutoFit/>
          </a:bodyPr>
          <a:lstStyle/>
          <a:p>
            <a:pPr algn="l">
              <a:defRPr sz="1200" b="0">
                <a:solidFill>
                  <a:srgbClr val="66717F"/>
                </a:solidFill>
                <a:latin typeface="Aptos"/>
              </a:defRPr>
            </a:pPr>
            <a:r>
              <a:t>Cyan = automatic face box · `jet` colors = feature activation inside the 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Each part now has its own feature candidates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Examples across epochs, with the activation overlay restricted to that part’s annotation box</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07</a:t>
            </a:r>
          </a:p>
        </p:txBody>
      </p:sp>
      <p:sp>
        <p:nvSpPr>
          <p:cNvPr id="7" name="TextBox 6"/>
          <p:cNvSpPr txBox="1"/>
          <p:nvPr/>
        </p:nvSpPr>
        <p:spPr>
          <a:xfrm>
            <a:off x="731520" y="1627632"/>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Eyes · feature 3701</a:t>
            </a:r>
          </a:p>
        </p:txBody>
      </p:sp>
      <p:pic>
        <p:nvPicPr>
          <p:cNvPr id="8" name="Picture 7" descr="image.jpg"/>
          <p:cNvPicPr>
            <a:picLocks noChangeAspect="1"/>
          </p:cNvPicPr>
          <p:nvPr/>
        </p:nvPicPr>
        <p:blipFill>
          <a:blip r:embed="rId3"/>
          <a:stretch>
            <a:fillRect/>
          </a:stretch>
        </p:blipFill>
        <p:spPr>
          <a:xfrm>
            <a:off x="731520" y="1883664"/>
            <a:ext cx="5166360" cy="1344168"/>
          </a:xfrm>
          <a:prstGeom prst="rect">
            <a:avLst/>
          </a:prstGeom>
        </p:spPr>
      </p:pic>
      <p:sp>
        <p:nvSpPr>
          <p:cNvPr id="9" name="TextBox 8"/>
          <p:cNvSpPr txBox="1"/>
          <p:nvPr/>
        </p:nvSpPr>
        <p:spPr>
          <a:xfrm>
            <a:off x="6309360" y="1627632"/>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Eyebrows · feature 1600</a:t>
            </a:r>
          </a:p>
        </p:txBody>
      </p:sp>
      <p:pic>
        <p:nvPicPr>
          <p:cNvPr id="10" name="Picture 9" descr="image.jpg"/>
          <p:cNvPicPr>
            <a:picLocks noChangeAspect="1"/>
          </p:cNvPicPr>
          <p:nvPr/>
        </p:nvPicPr>
        <p:blipFill>
          <a:blip r:embed="rId4"/>
          <a:stretch>
            <a:fillRect/>
          </a:stretch>
        </p:blipFill>
        <p:spPr>
          <a:xfrm>
            <a:off x="6309360" y="1883664"/>
            <a:ext cx="5166360" cy="1344168"/>
          </a:xfrm>
          <a:prstGeom prst="rect">
            <a:avLst/>
          </a:prstGeom>
        </p:spPr>
      </p:pic>
      <p:sp>
        <p:nvSpPr>
          <p:cNvPr id="11" name="TextBox 10"/>
          <p:cNvSpPr txBox="1"/>
          <p:nvPr/>
        </p:nvSpPr>
        <p:spPr>
          <a:xfrm>
            <a:off x="731520" y="3886200"/>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Nose · feature 1664</a:t>
            </a:r>
          </a:p>
        </p:txBody>
      </p:sp>
      <p:pic>
        <p:nvPicPr>
          <p:cNvPr id="12" name="Picture 11" descr="image.jpg"/>
          <p:cNvPicPr>
            <a:picLocks noChangeAspect="1"/>
          </p:cNvPicPr>
          <p:nvPr/>
        </p:nvPicPr>
        <p:blipFill>
          <a:blip r:embed="rId5"/>
          <a:stretch>
            <a:fillRect/>
          </a:stretch>
        </p:blipFill>
        <p:spPr>
          <a:xfrm>
            <a:off x="731520" y="4142232"/>
            <a:ext cx="5166360" cy="1344168"/>
          </a:xfrm>
          <a:prstGeom prst="rect">
            <a:avLst/>
          </a:prstGeom>
        </p:spPr>
      </p:pic>
      <p:sp>
        <p:nvSpPr>
          <p:cNvPr id="13" name="TextBox 12"/>
          <p:cNvSpPr txBox="1"/>
          <p:nvPr/>
        </p:nvSpPr>
        <p:spPr>
          <a:xfrm>
            <a:off x="6309360" y="3886200"/>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Ears · feature 4858</a:t>
            </a:r>
          </a:p>
        </p:txBody>
      </p:sp>
      <p:pic>
        <p:nvPicPr>
          <p:cNvPr id="14" name="Picture 13" descr="image.jpg"/>
          <p:cNvPicPr>
            <a:picLocks noChangeAspect="1"/>
          </p:cNvPicPr>
          <p:nvPr/>
        </p:nvPicPr>
        <p:blipFill>
          <a:blip r:embed="rId6"/>
          <a:stretch>
            <a:fillRect/>
          </a:stretch>
        </p:blipFill>
        <p:spPr>
          <a:xfrm>
            <a:off x="6309360" y="4142232"/>
            <a:ext cx="5166360" cy="1344168"/>
          </a:xfrm>
          <a:prstGeom prst="rect">
            <a:avLst/>
          </a:prstGeom>
        </p:spPr>
      </p:pic>
      <p:sp>
        <p:nvSpPr>
          <p:cNvPr id="15" name="TextBox 14"/>
          <p:cNvSpPr txBox="1"/>
          <p:nvPr/>
        </p:nvSpPr>
        <p:spPr>
          <a:xfrm>
            <a:off x="777240" y="5989320"/>
            <a:ext cx="10607040" cy="274320"/>
          </a:xfrm>
          <a:prstGeom prst="rect">
            <a:avLst/>
          </a:prstGeom>
          <a:noFill/>
        </p:spPr>
        <p:txBody>
          <a:bodyPr wrap="square" lIns="18288" rIns="18288" tIns="9144" bIns="9144">
            <a:spAutoFit/>
          </a:bodyPr>
          <a:lstStyle/>
          <a:p>
            <a:pPr algn="l">
              <a:defRPr sz="1200" b="0">
                <a:solidFill>
                  <a:srgbClr val="66717F"/>
                </a:solidFill>
                <a:latin typeface="Aptos"/>
              </a:defRPr>
            </a:pPr>
            <a:r>
              <a:t>Full sheets: 9/12 categories for eyes, 7/12 eyebrows, 4/12 nose, 6/12 ears.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Selected features activate more inside their part boxes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Validation selected candidates; test set measured mean part-minus-reference activation</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08</a:t>
            </a:r>
          </a:p>
        </p:txBody>
      </p:sp>
      <p:graphicFrame>
        <p:nvGraphicFramePr>
          <p:cNvPr id="7" name="Table 6"/>
          <p:cNvGraphicFramePr>
            <a:graphicFrameLocks noGrp="1"/>
          </p:cNvGraphicFramePr>
          <p:nvPr/>
        </p:nvGraphicFramePr>
        <p:xfrm>
          <a:off x="566928" y="1664208"/>
          <a:ext cx="10378440" cy="3566160"/>
        </p:xfrm>
        <a:graphic>
          <a:graphicData uri="http://schemas.openxmlformats.org/drawingml/2006/table">
            <a:tbl>
              <a:tblPr firstRow="1" bandRow="1">
                <a:tableStyleId>{5C22544A-7EE6-4342-B048-85BDC9FD1C3A}</a:tableStyleId>
              </a:tblPr>
              <a:tblGrid>
                <a:gridCol w="1417320"/>
                <a:gridCol w="2331720"/>
                <a:gridCol w="1234440"/>
                <a:gridCol w="1371600"/>
                <a:gridCol w="4023360"/>
              </a:tblGrid>
              <a:tr h="713232">
                <a:tc>
                  <a:txBody>
                    <a:bodyPr/>
                    <a:lstStyle/>
                    <a:p>
                      <a:pPr>
                        <a:defRPr sz="1200" b="1">
                          <a:solidFill>
                            <a:srgbClr val="FFFFFF"/>
                          </a:solidFill>
                          <a:latin typeface="Aptos"/>
                        </a:defRPr>
                      </a:pPr>
                      <a:r>
                        <a:t>Region</a:t>
                      </a:r>
                    </a:p>
                  </a:txBody>
                  <a:tcPr marL="82296" marR="64008" marT="32004" marB="22860" anchor="ctr">
                    <a:solidFill>
                      <a:srgbClr val="17263A"/>
                    </a:solidFill>
                  </a:tcPr>
                </a:tc>
                <a:tc>
                  <a:txBody>
                    <a:bodyPr/>
                    <a:lstStyle/>
                    <a:p>
                      <a:pPr>
                        <a:defRPr sz="1200" b="1">
                          <a:solidFill>
                            <a:srgbClr val="FFFFFF"/>
                          </a:solidFill>
                          <a:latin typeface="Aptos"/>
                        </a:defRPr>
                      </a:pPr>
                      <a:r>
                        <a:t>Top features</a:t>
                      </a:r>
                    </a:p>
                  </a:txBody>
                  <a:tcPr marL="82296" marR="64008" marT="32004" marB="22860" anchor="ctr">
                    <a:solidFill>
                      <a:srgbClr val="17263A"/>
                    </a:solidFill>
                  </a:tcPr>
                </a:tc>
                <a:tc>
                  <a:txBody>
                    <a:bodyPr/>
                    <a:lstStyle/>
                    <a:p>
                      <a:pPr>
                        <a:defRPr sz="1200" b="1">
                          <a:solidFill>
                            <a:srgbClr val="FFFFFF"/>
                          </a:solidFill>
                          <a:latin typeface="Aptos"/>
                        </a:defRPr>
                      </a:pPr>
                      <a:r>
                        <a:t>Test n</a:t>
                      </a:r>
                    </a:p>
                  </a:txBody>
                  <a:tcPr marL="82296" marR="64008" marT="32004" marB="22860" anchor="ctr">
                    <a:solidFill>
                      <a:srgbClr val="17263A"/>
                    </a:solidFill>
                  </a:tcPr>
                </a:tc>
                <a:tc>
                  <a:txBody>
                    <a:bodyPr/>
                    <a:lstStyle/>
                    <a:p>
                      <a:pPr>
                        <a:defRPr sz="1200" b="1">
                          <a:solidFill>
                            <a:srgbClr val="FFFFFF"/>
                          </a:solidFill>
                          <a:latin typeface="Aptos"/>
                        </a:defRPr>
                      </a:pPr>
                      <a:r>
                        <a:t>Categories</a:t>
                      </a:r>
                    </a:p>
                  </a:txBody>
                  <a:tcPr marL="82296" marR="64008" marT="32004" marB="22860" anchor="ctr">
                    <a:solidFill>
                      <a:srgbClr val="17263A"/>
                    </a:solidFill>
                  </a:tcPr>
                </a:tc>
                <a:tc>
                  <a:txBody>
                    <a:bodyPr/>
                    <a:lstStyle/>
                    <a:p>
                      <a:pPr>
                        <a:defRPr sz="1200" b="1">
                          <a:solidFill>
                            <a:srgbClr val="FFFFFF"/>
                          </a:solidFill>
                          <a:latin typeface="Aptos"/>
                        </a:defRPr>
                      </a:pPr>
                      <a:r>
                        <a:t>Test contrast range (95% CI range)</a:t>
                      </a:r>
                    </a:p>
                  </a:txBody>
                  <a:tcPr marL="82296" marR="64008" marT="32004" marB="22860" anchor="ctr">
                    <a:solidFill>
                      <a:srgbClr val="17263A"/>
                    </a:solidFill>
                  </a:tcPr>
                </a:tc>
              </a:tr>
              <a:tr h="713232">
                <a:tc>
                  <a:txBody>
                    <a:bodyPr/>
                    <a:lstStyle/>
                    <a:p>
                      <a:pPr>
                        <a:defRPr sz="1200" b="1">
                          <a:solidFill>
                            <a:srgbClr val="283240"/>
                          </a:solidFill>
                          <a:latin typeface="Aptos"/>
                        </a:defRPr>
                      </a:pPr>
                      <a:r>
                        <a:t>Eyes</a:t>
                      </a:r>
                    </a:p>
                  </a:txBody>
                  <a:tcPr marL="82296" marR="64008" marT="32004" marB="22860" anchor="ctr">
                    <a:solidFill>
                      <a:srgbClr val="E8F4F3"/>
                    </a:solidFill>
                  </a:tcPr>
                </a:tc>
                <a:tc>
                  <a:txBody>
                    <a:bodyPr/>
                    <a:lstStyle/>
                    <a:p>
                      <a:pPr>
                        <a:defRPr sz="1200" b="1">
                          <a:solidFill>
                            <a:srgbClr val="283240"/>
                          </a:solidFill>
                          <a:latin typeface="Aptos"/>
                        </a:defRPr>
                      </a:pPr>
                      <a:r>
                        <a:t>3701, 3593, 1600</a:t>
                      </a:r>
                    </a:p>
                  </a:txBody>
                  <a:tcPr marL="82296" marR="64008" marT="32004" marB="22860" anchor="ctr">
                    <a:solidFill>
                      <a:srgbClr val="E8F4F3"/>
                    </a:solidFill>
                  </a:tcPr>
                </a:tc>
                <a:tc>
                  <a:txBody>
                    <a:bodyPr/>
                    <a:lstStyle/>
                    <a:p>
                      <a:pPr>
                        <a:defRPr sz="1200" b="1">
                          <a:solidFill>
                            <a:srgbClr val="283240"/>
                          </a:solidFill>
                          <a:latin typeface="Aptos"/>
                        </a:defRPr>
                      </a:pPr>
                      <a:r>
                        <a:t>90</a:t>
                      </a:r>
                    </a:p>
                  </a:txBody>
                  <a:tcPr marL="82296" marR="64008" marT="32004" marB="22860" anchor="ctr">
                    <a:solidFill>
                      <a:srgbClr val="E8F4F3"/>
                    </a:solidFill>
                  </a:tcPr>
                </a:tc>
                <a:tc>
                  <a:txBody>
                    <a:bodyPr/>
                    <a:lstStyle/>
                    <a:p>
                      <a:pPr>
                        <a:defRPr sz="1200" b="1">
                          <a:solidFill>
                            <a:srgbClr val="283240"/>
                          </a:solidFill>
                          <a:latin typeface="Aptos"/>
                        </a:defRPr>
                      </a:pPr>
                      <a:r>
                        <a:t>9</a:t>
                      </a:r>
                    </a:p>
                  </a:txBody>
                  <a:tcPr marL="82296" marR="64008" marT="32004" marB="22860" anchor="ctr">
                    <a:solidFill>
                      <a:srgbClr val="E8F4F3"/>
                    </a:solidFill>
                  </a:tcPr>
                </a:tc>
                <a:tc>
                  <a:txBody>
                    <a:bodyPr/>
                    <a:lstStyle/>
                    <a:p>
                      <a:pPr>
                        <a:defRPr sz="1200" b="1">
                          <a:solidFill>
                            <a:srgbClr val="283240"/>
                          </a:solidFill>
                          <a:latin typeface="Aptos"/>
                        </a:defRPr>
                      </a:pPr>
                      <a:r>
                        <a:t>+6.80 to +9.03</a:t>
                      </a:r>
                    </a:p>
                    <a:p>
                      <a:pPr>
                        <a:defRPr sz="1200" b="1">
                          <a:solidFill>
                            <a:srgbClr val="283240"/>
                          </a:solidFill>
                          <a:latin typeface="Aptos"/>
                        </a:defRPr>
                      </a:pPr>
                      <a:r>
                        <a:t>[+6.30, +10.66]</a:t>
                      </a:r>
                    </a:p>
                  </a:txBody>
                  <a:tcPr marL="82296" marR="64008" marT="32004" marB="22860" anchor="ctr">
                    <a:solidFill>
                      <a:srgbClr val="E8F4F3"/>
                    </a:solidFill>
                  </a:tcPr>
                </a:tc>
              </a:tr>
              <a:tr h="713232">
                <a:tc>
                  <a:txBody>
                    <a:bodyPr/>
                    <a:lstStyle/>
                    <a:p>
                      <a:pPr>
                        <a:defRPr sz="1200" b="0">
                          <a:solidFill>
                            <a:srgbClr val="283240"/>
                          </a:solidFill>
                          <a:latin typeface="Aptos"/>
                        </a:defRPr>
                      </a:pPr>
                      <a:r>
                        <a:t>Eyebrows</a:t>
                      </a:r>
                    </a:p>
                  </a:txBody>
                  <a:tcPr marL="82296" marR="64008" marT="32004" marB="22860" anchor="ctr">
                    <a:solidFill>
                      <a:srgbClr val="FFFFFF"/>
                    </a:solidFill>
                  </a:tcPr>
                </a:tc>
                <a:tc>
                  <a:txBody>
                    <a:bodyPr/>
                    <a:lstStyle/>
                    <a:p>
                      <a:pPr>
                        <a:defRPr sz="1200" b="0">
                          <a:solidFill>
                            <a:srgbClr val="283240"/>
                          </a:solidFill>
                          <a:latin typeface="Aptos"/>
                        </a:defRPr>
                      </a:pPr>
                      <a:r>
                        <a:t>1600, 3701, 1237</a:t>
                      </a:r>
                    </a:p>
                  </a:txBody>
                  <a:tcPr marL="82296" marR="64008" marT="32004" marB="22860" anchor="ctr">
                    <a:solidFill>
                      <a:srgbClr val="FFFFFF"/>
                    </a:solidFill>
                  </a:tcPr>
                </a:tc>
                <a:tc>
                  <a:txBody>
                    <a:bodyPr/>
                    <a:lstStyle/>
                    <a:p>
                      <a:pPr>
                        <a:defRPr sz="1200" b="0">
                          <a:solidFill>
                            <a:srgbClr val="283240"/>
                          </a:solidFill>
                          <a:latin typeface="Aptos"/>
                        </a:defRPr>
                      </a:pPr>
                      <a:r>
                        <a:t>28</a:t>
                      </a:r>
                    </a:p>
                  </a:txBody>
                  <a:tcPr marL="82296" marR="64008" marT="32004" marB="22860" anchor="ctr">
                    <a:solidFill>
                      <a:srgbClr val="FFFFFF"/>
                    </a:solidFill>
                  </a:tcPr>
                </a:tc>
                <a:tc>
                  <a:txBody>
                    <a:bodyPr/>
                    <a:lstStyle/>
                    <a:p>
                      <a:pPr>
                        <a:defRPr sz="1200" b="0">
                          <a:solidFill>
                            <a:srgbClr val="283240"/>
                          </a:solidFill>
                          <a:latin typeface="Aptos"/>
                        </a:defRPr>
                      </a:pPr>
                      <a:r>
                        <a:t>7</a:t>
                      </a:r>
                    </a:p>
                  </a:txBody>
                  <a:tcPr marL="82296" marR="64008" marT="32004" marB="22860" anchor="ctr">
                    <a:solidFill>
                      <a:srgbClr val="FFFFFF"/>
                    </a:solidFill>
                  </a:tcPr>
                </a:tc>
                <a:tc>
                  <a:txBody>
                    <a:bodyPr/>
                    <a:lstStyle/>
                    <a:p>
                      <a:pPr>
                        <a:defRPr sz="1200" b="0">
                          <a:solidFill>
                            <a:srgbClr val="283240"/>
                          </a:solidFill>
                          <a:latin typeface="Aptos"/>
                        </a:defRPr>
                      </a:pPr>
                      <a:r>
                        <a:t>+6.27 to +7.96</a:t>
                      </a:r>
                    </a:p>
                    <a:p>
                      <a:pPr>
                        <a:defRPr sz="1200" b="0">
                          <a:solidFill>
                            <a:srgbClr val="283240"/>
                          </a:solidFill>
                          <a:latin typeface="Aptos"/>
                        </a:defRPr>
                      </a:pPr>
                      <a:r>
                        <a:t>[+4.27, +9.70]</a:t>
                      </a:r>
                    </a:p>
                  </a:txBody>
                  <a:tcPr marL="82296" marR="64008" marT="32004" marB="22860" anchor="ctr">
                    <a:solidFill>
                      <a:srgbClr val="FFFFFF"/>
                    </a:solidFill>
                  </a:tcPr>
                </a:tc>
              </a:tr>
              <a:tr h="713232">
                <a:tc>
                  <a:txBody>
                    <a:bodyPr/>
                    <a:lstStyle/>
                    <a:p>
                      <a:pPr>
                        <a:defRPr sz="1200" b="0">
                          <a:solidFill>
                            <a:srgbClr val="283240"/>
                          </a:solidFill>
                          <a:latin typeface="Aptos"/>
                        </a:defRPr>
                      </a:pPr>
                      <a:r>
                        <a:t>Nose</a:t>
                      </a:r>
                    </a:p>
                  </a:txBody>
                  <a:tcPr marL="82296" marR="64008" marT="32004" marB="22860" anchor="ctr">
                    <a:solidFill>
                      <a:srgbClr val="FFFFFF"/>
                    </a:solidFill>
                  </a:tcPr>
                </a:tc>
                <a:tc>
                  <a:txBody>
                    <a:bodyPr/>
                    <a:lstStyle/>
                    <a:p>
                      <a:pPr>
                        <a:defRPr sz="1200" b="0">
                          <a:solidFill>
                            <a:srgbClr val="283240"/>
                          </a:solidFill>
                          <a:latin typeface="Aptos"/>
                        </a:defRPr>
                      </a:pPr>
                      <a:r>
                        <a:t>1664, 3593, 1991</a:t>
                      </a:r>
                    </a:p>
                  </a:txBody>
                  <a:tcPr marL="82296" marR="64008" marT="32004" marB="22860" anchor="ctr">
                    <a:solidFill>
                      <a:srgbClr val="FFFFFF"/>
                    </a:solidFill>
                  </a:tcPr>
                </a:tc>
                <a:tc>
                  <a:txBody>
                    <a:bodyPr/>
                    <a:lstStyle/>
                    <a:p>
                      <a:pPr>
                        <a:defRPr sz="1200" b="0">
                          <a:solidFill>
                            <a:srgbClr val="283240"/>
                          </a:solidFill>
                          <a:latin typeface="Aptos"/>
                        </a:defRPr>
                      </a:pPr>
                      <a:r>
                        <a:t>13</a:t>
                      </a:r>
                    </a:p>
                  </a:txBody>
                  <a:tcPr marL="82296" marR="64008" marT="32004" marB="22860" anchor="ctr">
                    <a:solidFill>
                      <a:srgbClr val="FFFFFF"/>
                    </a:solidFill>
                  </a:tcPr>
                </a:tc>
                <a:tc>
                  <a:txBody>
                    <a:bodyPr/>
                    <a:lstStyle/>
                    <a:p>
                      <a:pPr>
                        <a:defRPr sz="1200" b="0">
                          <a:solidFill>
                            <a:srgbClr val="283240"/>
                          </a:solidFill>
                          <a:latin typeface="Aptos"/>
                        </a:defRPr>
                      </a:pPr>
                      <a:r>
                        <a:t>4</a:t>
                      </a:r>
                    </a:p>
                  </a:txBody>
                  <a:tcPr marL="82296" marR="64008" marT="32004" marB="22860" anchor="ctr">
                    <a:solidFill>
                      <a:srgbClr val="FFFFFF"/>
                    </a:solidFill>
                  </a:tcPr>
                </a:tc>
                <a:tc>
                  <a:txBody>
                    <a:bodyPr/>
                    <a:lstStyle/>
                    <a:p>
                      <a:pPr>
                        <a:defRPr sz="1200" b="0">
                          <a:solidFill>
                            <a:srgbClr val="283240"/>
                          </a:solidFill>
                          <a:latin typeface="Aptos"/>
                        </a:defRPr>
                      </a:pPr>
                      <a:r>
                        <a:t>+6.54 to +11.79</a:t>
                      </a:r>
                    </a:p>
                    <a:p>
                      <a:pPr>
                        <a:defRPr sz="1200" b="0">
                          <a:solidFill>
                            <a:srgbClr val="283240"/>
                          </a:solidFill>
                          <a:latin typeface="Aptos"/>
                        </a:defRPr>
                      </a:pPr>
                      <a:r>
                        <a:t>[+5.08, +12.26]</a:t>
                      </a:r>
                    </a:p>
                  </a:txBody>
                  <a:tcPr marL="82296" marR="64008" marT="32004" marB="22860" anchor="ctr">
                    <a:solidFill>
                      <a:srgbClr val="FFFFFF"/>
                    </a:solidFill>
                  </a:tcPr>
                </a:tc>
              </a:tr>
              <a:tr h="713232">
                <a:tc>
                  <a:txBody>
                    <a:bodyPr/>
                    <a:lstStyle/>
                    <a:p>
                      <a:pPr>
                        <a:defRPr sz="1200" b="0">
                          <a:solidFill>
                            <a:srgbClr val="283240"/>
                          </a:solidFill>
                          <a:latin typeface="Aptos"/>
                        </a:defRPr>
                      </a:pPr>
                      <a:r>
                        <a:t>Ears</a:t>
                      </a:r>
                    </a:p>
                  </a:txBody>
                  <a:tcPr marL="82296" marR="64008" marT="32004" marB="22860" anchor="ctr">
                    <a:solidFill>
                      <a:srgbClr val="FFFFFF"/>
                    </a:solidFill>
                  </a:tcPr>
                </a:tc>
                <a:tc>
                  <a:txBody>
                    <a:bodyPr/>
                    <a:lstStyle/>
                    <a:p>
                      <a:pPr>
                        <a:defRPr sz="1200" b="0">
                          <a:solidFill>
                            <a:srgbClr val="283240"/>
                          </a:solidFill>
                          <a:latin typeface="Aptos"/>
                        </a:defRPr>
                      </a:pPr>
                      <a:r>
                        <a:t>4858, 2230, 2611</a:t>
                      </a:r>
                    </a:p>
                  </a:txBody>
                  <a:tcPr marL="82296" marR="64008" marT="32004" marB="22860" anchor="ctr">
                    <a:solidFill>
                      <a:srgbClr val="FFFFFF"/>
                    </a:solidFill>
                  </a:tcPr>
                </a:tc>
                <a:tc>
                  <a:txBody>
                    <a:bodyPr/>
                    <a:lstStyle/>
                    <a:p>
                      <a:pPr>
                        <a:defRPr sz="1200" b="0">
                          <a:solidFill>
                            <a:srgbClr val="283240"/>
                          </a:solidFill>
                          <a:latin typeface="Aptos"/>
                        </a:defRPr>
                      </a:pPr>
                      <a:r>
                        <a:t>18</a:t>
                      </a:r>
                    </a:p>
                  </a:txBody>
                  <a:tcPr marL="82296" marR="64008" marT="32004" marB="22860" anchor="ctr">
                    <a:solidFill>
                      <a:srgbClr val="FFFFFF"/>
                    </a:solidFill>
                  </a:tcPr>
                </a:tc>
                <a:tc>
                  <a:txBody>
                    <a:bodyPr/>
                    <a:lstStyle/>
                    <a:p>
                      <a:pPr>
                        <a:defRPr sz="1200" b="0">
                          <a:solidFill>
                            <a:srgbClr val="283240"/>
                          </a:solidFill>
                          <a:latin typeface="Aptos"/>
                        </a:defRPr>
                      </a:pPr>
                      <a:r>
                        <a:t>6</a:t>
                      </a:r>
                    </a:p>
                  </a:txBody>
                  <a:tcPr marL="82296" marR="64008" marT="32004" marB="22860" anchor="ctr">
                    <a:solidFill>
                      <a:srgbClr val="FFFFFF"/>
                    </a:solidFill>
                  </a:tcPr>
                </a:tc>
                <a:tc>
                  <a:txBody>
                    <a:bodyPr/>
                    <a:lstStyle/>
                    <a:p>
                      <a:pPr>
                        <a:defRPr sz="1200" b="0">
                          <a:solidFill>
                            <a:srgbClr val="283240"/>
                          </a:solidFill>
                          <a:latin typeface="Aptos"/>
                        </a:defRPr>
                      </a:pPr>
                      <a:r>
                        <a:t>+5.39 to +10.18</a:t>
                      </a:r>
                    </a:p>
                    <a:p>
                      <a:pPr>
                        <a:defRPr sz="1200" b="0">
                          <a:solidFill>
                            <a:srgbClr val="283240"/>
                          </a:solidFill>
                          <a:latin typeface="Aptos"/>
                        </a:defRPr>
                      </a:pPr>
                      <a:r>
                        <a:t>[+2.43, +11.40]</a:t>
                      </a:r>
                    </a:p>
                  </a:txBody>
                  <a:tcPr marL="82296" marR="64008" marT="32004" marB="22860" anchor="ctr">
                    <a:solidFill>
                      <a:srgbClr val="FFFFFF"/>
                    </a:solidFill>
                  </a:tcPr>
                </a:tc>
              </a:tr>
            </a:tbl>
          </a:graphicData>
        </a:graphic>
      </p:graphicFrame>
      <p:sp>
        <p:nvSpPr>
          <p:cNvPr id="8" name="Rounded Rectangle 7"/>
          <p:cNvSpPr/>
          <p:nvPr/>
        </p:nvSpPr>
        <p:spPr>
          <a:xfrm>
            <a:off x="777240" y="5596128"/>
            <a:ext cx="5166360" cy="640080"/>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596128"/>
            <a:ext cx="64008" cy="6400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5669280"/>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Meaning</a:t>
            </a:r>
          </a:p>
        </p:txBody>
      </p:sp>
      <p:sp>
        <p:nvSpPr>
          <p:cNvPr id="11" name="TextBox 10"/>
          <p:cNvSpPr txBox="1"/>
          <p:nvPr/>
        </p:nvSpPr>
        <p:spPr>
          <a:xfrm>
            <a:off x="978408" y="5934456"/>
            <a:ext cx="4800600" cy="256031"/>
          </a:xfrm>
          <a:prstGeom prst="rect">
            <a:avLst/>
          </a:prstGeom>
          <a:noFill/>
        </p:spPr>
        <p:txBody>
          <a:bodyPr wrap="square" lIns="18288" rIns="18288" tIns="9144" bIns="9144">
            <a:spAutoFit/>
          </a:bodyPr>
          <a:lstStyle/>
          <a:p>
            <a:pPr algn="l">
              <a:defRPr sz="1200" b="0">
                <a:solidFill>
                  <a:srgbClr val="283240"/>
                </a:solidFill>
                <a:latin typeface="Aptos"/>
              </a:defRPr>
            </a:pPr>
            <a:r>
              <a:t>Evidence of localization to annotated boxes.</a:t>
            </a:r>
          </a:p>
        </p:txBody>
      </p:sp>
      <p:sp>
        <p:nvSpPr>
          <p:cNvPr id="12" name="Rounded Rectangle 11"/>
          <p:cNvSpPr/>
          <p:nvPr/>
        </p:nvSpPr>
        <p:spPr>
          <a:xfrm>
            <a:off x="6199632" y="5596128"/>
            <a:ext cx="5166360" cy="6400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5596128"/>
            <a:ext cx="64008" cy="6400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669280"/>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Not established</a:t>
            </a:r>
          </a:p>
        </p:txBody>
      </p:sp>
      <p:sp>
        <p:nvSpPr>
          <p:cNvPr id="15" name="TextBox 14"/>
          <p:cNvSpPr txBox="1"/>
          <p:nvPr/>
        </p:nvSpPr>
        <p:spPr>
          <a:xfrm>
            <a:off x="6400800" y="5934456"/>
            <a:ext cx="4800600" cy="256031"/>
          </a:xfrm>
          <a:prstGeom prst="rect">
            <a:avLst/>
          </a:prstGeom>
          <a:noFill/>
        </p:spPr>
        <p:txBody>
          <a:bodyPr wrap="square" lIns="18288" rIns="18288" tIns="9144" bIns="9144">
            <a:spAutoFit/>
          </a:bodyPr>
          <a:lstStyle/>
          <a:p>
            <a:pPr algn="l">
              <a:defRPr sz="1200" b="0">
                <a:solidFill>
                  <a:srgbClr val="283240"/>
                </a:solidFill>
                <a:latin typeface="Aptos"/>
              </a:defRPr>
            </a:pPr>
            <a:r>
              <a:t>Dedicated semantics, causal control, or fairness effects.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Other intervention features also associate with face parts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19 fixed feature IDs · original pretrained SAE · held-out test portraits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09</a:t>
            </a:r>
          </a:p>
        </p:txBody>
      </p:sp>
      <p:graphicFrame>
        <p:nvGraphicFramePr>
          <p:cNvPr id="7" name="Table 6"/>
          <p:cNvGraphicFramePr>
            <a:graphicFrameLocks noGrp="1"/>
          </p:cNvGraphicFramePr>
          <p:nvPr/>
        </p:nvGraphicFramePr>
        <p:xfrm>
          <a:off x="658368" y="1627632"/>
          <a:ext cx="10149839" cy="3840480"/>
        </p:xfrm>
        <a:graphic>
          <a:graphicData uri="http://schemas.openxmlformats.org/drawingml/2006/table">
            <a:tbl>
              <a:tblPr firstRow="1" bandRow="1">
                <a:tableStyleId>{5C22544A-7EE6-4342-B048-85BDC9FD1C3A}</a:tableStyleId>
              </a:tblPr>
              <a:tblGrid>
                <a:gridCol w="1325880"/>
                <a:gridCol w="6949440"/>
                <a:gridCol w="1874519"/>
              </a:tblGrid>
              <a:tr h="768096">
                <a:tc>
                  <a:txBody>
                    <a:bodyPr/>
                    <a:lstStyle/>
                    <a:p>
                      <a:pPr>
                        <a:defRPr sz="1100" b="1">
                          <a:solidFill>
                            <a:srgbClr val="FFFFFF"/>
                          </a:solidFill>
                          <a:latin typeface="Aptos"/>
                        </a:defRPr>
                      </a:pPr>
                      <a:r>
                        <a:t>Region</a:t>
                      </a:r>
                    </a:p>
                  </a:txBody>
                  <a:tcPr marL="82296" marR="64008" marT="32004" marB="22860" anchor="ctr">
                    <a:solidFill>
                      <a:srgbClr val="17263A"/>
                    </a:solidFill>
                  </a:tcPr>
                </a:tc>
                <a:tc>
                  <a:txBody>
                    <a:bodyPr/>
                    <a:lstStyle/>
                    <a:p>
                      <a:pPr>
                        <a:defRPr sz="1100" b="1">
                          <a:solidFill>
                            <a:srgbClr val="FFFFFF"/>
                          </a:solidFill>
                          <a:latin typeface="Aptos"/>
                        </a:defRPr>
                      </a:pPr>
                      <a:r>
                        <a:t>Leading fixed features · contrast [95% interval]</a:t>
                      </a:r>
                    </a:p>
                  </a:txBody>
                  <a:tcPr marL="82296" marR="64008" marT="32004" marB="22860" anchor="ctr">
                    <a:solidFill>
                      <a:srgbClr val="17263A"/>
                    </a:solidFill>
                  </a:tcPr>
                </a:tc>
                <a:tc>
                  <a:txBody>
                    <a:bodyPr/>
                    <a:lstStyle/>
                    <a:p>
                      <a:pPr>
                        <a:defRPr sz="1100" b="1">
                          <a:solidFill>
                            <a:srgbClr val="FFFFFF"/>
                          </a:solidFill>
                          <a:latin typeface="Aptos"/>
                        </a:defRPr>
                      </a:pPr>
                      <a:r>
                        <a:t>Test images / categories</a:t>
                      </a:r>
                    </a:p>
                  </a:txBody>
                  <a:tcPr marL="82296" marR="64008" marT="32004" marB="22860" anchor="ctr">
                    <a:solidFill>
                      <a:srgbClr val="17263A"/>
                    </a:solidFill>
                  </a:tcPr>
                </a:tc>
              </a:tr>
              <a:tr h="768096">
                <a:tc>
                  <a:txBody>
                    <a:bodyPr/>
                    <a:lstStyle/>
                    <a:p>
                      <a:pPr>
                        <a:defRPr sz="1100" b="0">
                          <a:solidFill>
                            <a:srgbClr val="283240"/>
                          </a:solidFill>
                          <a:latin typeface="Aptos"/>
                        </a:defRPr>
                      </a:pPr>
                      <a:r>
                        <a:t>Eyes</a:t>
                      </a:r>
                    </a:p>
                  </a:txBody>
                  <a:tcPr marL="82296" marR="64008" marT="32004" marB="22860" anchor="ctr">
                    <a:solidFill>
                      <a:srgbClr val="FFFFFF"/>
                    </a:solidFill>
                  </a:tcPr>
                </a:tc>
                <a:tc>
                  <a:txBody>
                    <a:bodyPr/>
                    <a:lstStyle/>
                    <a:p>
                      <a:pPr>
                        <a:defRPr sz="1100" b="0">
                          <a:solidFill>
                            <a:srgbClr val="283240"/>
                          </a:solidFill>
                          <a:latin typeface="Aptos"/>
                        </a:defRPr>
                      </a:pPr>
                      <a:r>
                        <a:t>527: +1.75 [1.40, 2.11] · 1664: +1.65 [0.85, 2.42] · 3725: +0.78 [0.43, 1.23]</a:t>
                      </a:r>
                    </a:p>
                  </a:txBody>
                  <a:tcPr marL="82296" marR="64008" marT="32004" marB="22860" anchor="ctr">
                    <a:solidFill>
                      <a:srgbClr val="FFFFFF"/>
                    </a:solidFill>
                  </a:tcPr>
                </a:tc>
                <a:tc>
                  <a:txBody>
                    <a:bodyPr/>
                    <a:lstStyle/>
                    <a:p>
                      <a:pPr>
                        <a:defRPr sz="1100" b="0">
                          <a:solidFill>
                            <a:srgbClr val="283240"/>
                          </a:solidFill>
                          <a:latin typeface="Aptos"/>
                        </a:defRPr>
                      </a:pPr>
                      <a:r>
                        <a:t>90 / 9</a:t>
                      </a:r>
                    </a:p>
                  </a:txBody>
                  <a:tcPr marL="82296" marR="64008" marT="32004" marB="22860" anchor="ctr">
                    <a:solidFill>
                      <a:srgbClr val="FFFFFF"/>
                    </a:solidFill>
                  </a:tcPr>
                </a:tc>
              </a:tr>
              <a:tr h="768096">
                <a:tc>
                  <a:txBody>
                    <a:bodyPr/>
                    <a:lstStyle/>
                    <a:p>
                      <a:pPr>
                        <a:defRPr sz="1100" b="0">
                          <a:solidFill>
                            <a:srgbClr val="283240"/>
                          </a:solidFill>
                          <a:latin typeface="Aptos"/>
                        </a:defRPr>
                      </a:pPr>
                      <a:r>
                        <a:t>Eyebrows</a:t>
                      </a:r>
                    </a:p>
                  </a:txBody>
                  <a:tcPr marL="82296" marR="64008" marT="32004" marB="22860" anchor="ctr">
                    <a:solidFill>
                      <a:srgbClr val="FFFFFF"/>
                    </a:solidFill>
                  </a:tcPr>
                </a:tc>
                <a:tc>
                  <a:txBody>
                    <a:bodyPr/>
                    <a:lstStyle/>
                    <a:p>
                      <a:pPr>
                        <a:defRPr sz="1100" b="0">
                          <a:solidFill>
                            <a:srgbClr val="283240"/>
                          </a:solidFill>
                          <a:latin typeface="Aptos"/>
                        </a:defRPr>
                      </a:pPr>
                      <a:r>
                        <a:t>527: +2.66 [2.25, 3.04] · 3725: +1.62 [1.33, 1.91] · 3722: +0.61 [0.50, 0.71]</a:t>
                      </a:r>
                    </a:p>
                  </a:txBody>
                  <a:tcPr marL="82296" marR="64008" marT="32004" marB="22860" anchor="ctr">
                    <a:solidFill>
                      <a:srgbClr val="FFFFFF"/>
                    </a:solidFill>
                  </a:tcPr>
                </a:tc>
                <a:tc>
                  <a:txBody>
                    <a:bodyPr/>
                    <a:lstStyle/>
                    <a:p>
                      <a:pPr>
                        <a:defRPr sz="1100" b="0">
                          <a:solidFill>
                            <a:srgbClr val="283240"/>
                          </a:solidFill>
                          <a:latin typeface="Aptos"/>
                        </a:defRPr>
                      </a:pPr>
                      <a:r>
                        <a:t>28 / 7</a:t>
                      </a:r>
                    </a:p>
                  </a:txBody>
                  <a:tcPr marL="82296" marR="64008" marT="32004" marB="22860" anchor="ctr">
                    <a:solidFill>
                      <a:srgbClr val="FFFFFF"/>
                    </a:solidFill>
                  </a:tcPr>
                </a:tc>
              </a:tr>
              <a:tr h="768096">
                <a:tc>
                  <a:txBody>
                    <a:bodyPr/>
                    <a:lstStyle/>
                    <a:p>
                      <a:pPr>
                        <a:defRPr sz="1100" b="1">
                          <a:solidFill>
                            <a:srgbClr val="283240"/>
                          </a:solidFill>
                          <a:latin typeface="Aptos"/>
                        </a:defRPr>
                      </a:pPr>
                      <a:r>
                        <a:t>Nose</a:t>
                      </a:r>
                    </a:p>
                  </a:txBody>
                  <a:tcPr marL="82296" marR="64008" marT="32004" marB="22860" anchor="ctr">
                    <a:solidFill>
                      <a:srgbClr val="E8F4F3"/>
                    </a:solidFill>
                  </a:tcPr>
                </a:tc>
                <a:tc>
                  <a:txBody>
                    <a:bodyPr/>
                    <a:lstStyle/>
                    <a:p>
                      <a:pPr>
                        <a:defRPr sz="1100" b="1">
                          <a:solidFill>
                            <a:srgbClr val="283240"/>
                          </a:solidFill>
                          <a:latin typeface="Aptos"/>
                        </a:defRPr>
                      </a:pPr>
                      <a:r>
                        <a:t>1664: +12.04 [11.48, 12.56] · 3725: +0.86 [0.70, 1.03] · 527: +0.43 [0.19, 0.70]</a:t>
                      </a:r>
                    </a:p>
                  </a:txBody>
                  <a:tcPr marL="82296" marR="64008" marT="32004" marB="22860" anchor="ctr">
                    <a:solidFill>
                      <a:srgbClr val="E8F4F3"/>
                    </a:solidFill>
                  </a:tcPr>
                </a:tc>
                <a:tc>
                  <a:txBody>
                    <a:bodyPr/>
                    <a:lstStyle/>
                    <a:p>
                      <a:pPr>
                        <a:defRPr sz="1100" b="1">
                          <a:solidFill>
                            <a:srgbClr val="283240"/>
                          </a:solidFill>
                          <a:latin typeface="Aptos"/>
                        </a:defRPr>
                      </a:pPr>
                      <a:r>
                        <a:t>13 / 4</a:t>
                      </a:r>
                    </a:p>
                  </a:txBody>
                  <a:tcPr marL="82296" marR="64008" marT="32004" marB="22860" anchor="ctr">
                    <a:solidFill>
                      <a:srgbClr val="E8F4F3"/>
                    </a:solidFill>
                  </a:tcPr>
                </a:tc>
              </a:tr>
              <a:tr h="768096">
                <a:tc>
                  <a:txBody>
                    <a:bodyPr/>
                    <a:lstStyle/>
                    <a:p>
                      <a:pPr>
                        <a:defRPr sz="1100" b="0">
                          <a:solidFill>
                            <a:srgbClr val="283240"/>
                          </a:solidFill>
                          <a:latin typeface="Aptos"/>
                        </a:defRPr>
                      </a:pPr>
                      <a:r>
                        <a:t>Ears</a:t>
                      </a:r>
                    </a:p>
                  </a:txBody>
                  <a:tcPr marL="82296" marR="64008" marT="32004" marB="22860" anchor="ctr">
                    <a:solidFill>
                      <a:srgbClr val="FFFFFF"/>
                    </a:solidFill>
                  </a:tcPr>
                </a:tc>
                <a:tc>
                  <a:txBody>
                    <a:bodyPr/>
                    <a:lstStyle/>
                    <a:p>
                      <a:pPr>
                        <a:defRPr sz="1100" b="0">
                          <a:solidFill>
                            <a:srgbClr val="283240"/>
                          </a:solidFill>
                          <a:latin typeface="Aptos"/>
                        </a:defRPr>
                      </a:pPr>
                      <a:r>
                        <a:t>527: +5.60 [4.70, 6.49] · 3725: +4.10 [3.12, 5.02] · 3722: +2.89 [1.65, 4.09]</a:t>
                      </a:r>
                    </a:p>
                  </a:txBody>
                  <a:tcPr marL="82296" marR="64008" marT="32004" marB="22860" anchor="ctr">
                    <a:solidFill>
                      <a:srgbClr val="FFFFFF"/>
                    </a:solidFill>
                  </a:tcPr>
                </a:tc>
                <a:tc>
                  <a:txBody>
                    <a:bodyPr/>
                    <a:lstStyle/>
                    <a:p>
                      <a:pPr>
                        <a:defRPr sz="1100" b="0">
                          <a:solidFill>
                            <a:srgbClr val="283240"/>
                          </a:solidFill>
                          <a:latin typeface="Aptos"/>
                        </a:defRPr>
                      </a:pPr>
                      <a:r>
                        <a:t>18 / 6</a:t>
                      </a:r>
                    </a:p>
                  </a:txBody>
                  <a:tcPr marL="82296" marR="64008" marT="32004" marB="22860" anchor="ctr">
                    <a:solidFill>
                      <a:srgbClr val="FFFFFF"/>
                    </a:solidFill>
                  </a:tcPr>
                </a:tc>
              </a:tr>
            </a:tbl>
          </a:graphicData>
        </a:graphic>
      </p:graphicFrame>
      <p:sp>
        <p:nvSpPr>
          <p:cNvPr id="8" name="Rounded Rectangle 7"/>
          <p:cNvSpPr/>
          <p:nvPr/>
        </p:nvSpPr>
        <p:spPr>
          <a:xfrm>
            <a:off x="777240" y="5669280"/>
            <a:ext cx="5166360" cy="6217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69280"/>
            <a:ext cx="64008" cy="6217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5742432"/>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Clearest part-centered pattern</a:t>
            </a:r>
          </a:p>
        </p:txBody>
      </p:sp>
      <p:sp>
        <p:nvSpPr>
          <p:cNvPr id="11" name="TextBox 10"/>
          <p:cNvSpPr txBox="1"/>
          <p:nvPr/>
        </p:nvSpPr>
        <p:spPr>
          <a:xfrm>
            <a:off x="978408" y="6007608"/>
            <a:ext cx="4800600" cy="237744"/>
          </a:xfrm>
          <a:prstGeom prst="rect">
            <a:avLst/>
          </a:prstGeom>
          <a:noFill/>
        </p:spPr>
        <p:txBody>
          <a:bodyPr wrap="square" lIns="18288" rIns="18288" tIns="9144" bIns="9144">
            <a:spAutoFit/>
          </a:bodyPr>
          <a:lstStyle/>
          <a:p>
            <a:pPr algn="l">
              <a:defRPr sz="1100" b="0">
                <a:solidFill>
                  <a:srgbClr val="283240"/>
                </a:solidFill>
                <a:latin typeface="Aptos"/>
              </a:defRPr>
            </a:pPr>
            <a:r>
              <a:t>Feature 1664: strong nose contrast; lower or negative contrast elsewhere.</a:t>
            </a:r>
          </a:p>
        </p:txBody>
      </p:sp>
      <p:sp>
        <p:nvSpPr>
          <p:cNvPr id="12" name="Rounded Rectangle 11"/>
          <p:cNvSpPr/>
          <p:nvPr/>
        </p:nvSpPr>
        <p:spPr>
          <a:xfrm>
            <a:off x="6199632" y="5669280"/>
            <a:ext cx="5166360" cy="6217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5669280"/>
            <a:ext cx="64008" cy="62179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742432"/>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Broader associations</a:t>
            </a:r>
          </a:p>
        </p:txBody>
      </p:sp>
      <p:sp>
        <p:nvSpPr>
          <p:cNvPr id="15" name="TextBox 14"/>
          <p:cNvSpPr txBox="1"/>
          <p:nvPr/>
        </p:nvSpPr>
        <p:spPr>
          <a:xfrm>
            <a:off x="6400800" y="6007608"/>
            <a:ext cx="4800600" cy="237744"/>
          </a:xfrm>
          <a:prstGeom prst="rect">
            <a:avLst/>
          </a:prstGeom>
          <a:noFill/>
        </p:spPr>
        <p:txBody>
          <a:bodyPr wrap="square" lIns="18288" rIns="18288" tIns="9144" bIns="9144">
            <a:spAutoFit/>
          </a:bodyPr>
          <a:lstStyle/>
          <a:p>
            <a:pPr algn="l">
              <a:defRPr sz="1100" b="0">
                <a:solidFill>
                  <a:srgbClr val="283240"/>
                </a:solidFill>
                <a:latin typeface="Aptos"/>
              </a:defRPr>
            </a:pPr>
            <a:r>
              <a:t>Features 527 and 3725 show positive contrast in several parts.</a:t>
            </a:r>
          </a:p>
        </p:txBody>
      </p:sp>
      <p:sp>
        <p:nvSpPr>
          <p:cNvPr id="16" name="TextBox 15"/>
          <p:cNvSpPr txBox="1"/>
          <p:nvPr/>
        </p:nvSpPr>
        <p:spPr>
          <a:xfrm>
            <a:off x="804672" y="6364224"/>
            <a:ext cx="10424160" cy="182880"/>
          </a:xfrm>
          <a:prstGeom prst="rect">
            <a:avLst/>
          </a:prstGeom>
          <a:noFill/>
        </p:spPr>
        <p:txBody>
          <a:bodyPr wrap="square" lIns="18288" rIns="18288" tIns="9144" bIns="9144">
            <a:spAutoFit/>
          </a:bodyPr>
          <a:lstStyle/>
          <a:p>
            <a:pPr algn="l">
              <a:defRPr sz="1000" b="0">
                <a:solidFill>
                  <a:srgbClr val="66717F"/>
                </a:solidFill>
                <a:latin typeface="Aptos"/>
              </a:defRPr>
            </a:pPr>
            <a:r>
              <a:t>Contrasts are SAE activation units, not percentages or correlation coefficients.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What we can claim—and what comes next</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The evidence supports a useful localization result, with clear limits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10</a:t>
            </a:r>
          </a:p>
        </p:txBody>
      </p:sp>
      <p:sp>
        <p:nvSpPr>
          <p:cNvPr id="7" name="Rounded Rectangle 6"/>
          <p:cNvSpPr/>
          <p:nvPr/>
        </p:nvSpPr>
        <p:spPr>
          <a:xfrm>
            <a:off x="777240" y="1783080"/>
            <a:ext cx="5120640" cy="1371600"/>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 cy="13716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4754879" cy="310896"/>
          </a:xfrm>
          <a:prstGeom prst="rect">
            <a:avLst/>
          </a:prstGeom>
          <a:noFill/>
        </p:spPr>
        <p:txBody>
          <a:bodyPr wrap="square" lIns="18288" rIns="18288" tIns="9144" bIns="9144">
            <a:spAutoFit/>
          </a:bodyPr>
          <a:lstStyle/>
          <a:p>
            <a:pPr algn="l">
              <a:defRPr sz="1600" b="1">
                <a:solidFill>
                  <a:srgbClr val="17263A"/>
                </a:solidFill>
                <a:latin typeface="Aptos"/>
              </a:defRPr>
            </a:pPr>
            <a:r>
              <a:t>Supported by these experiments</a:t>
            </a:r>
          </a:p>
        </p:txBody>
      </p:sp>
      <p:sp>
        <p:nvSpPr>
          <p:cNvPr id="10" name="TextBox 9"/>
          <p:cNvSpPr txBox="1"/>
          <p:nvPr/>
        </p:nvSpPr>
        <p:spPr>
          <a:xfrm>
            <a:off x="978408" y="2313432"/>
            <a:ext cx="4754879" cy="731520"/>
          </a:xfrm>
          <a:prstGeom prst="rect">
            <a:avLst/>
          </a:prstGeom>
          <a:noFill/>
        </p:spPr>
        <p:txBody>
          <a:bodyPr wrap="square" lIns="18288" rIns="18288" tIns="9144" bIns="9144">
            <a:spAutoFit/>
          </a:bodyPr>
          <a:lstStyle/>
          <a:p>
            <a:pPr algn="l">
              <a:defRPr sz="1400" b="0">
                <a:solidFill>
                  <a:srgbClr val="283240"/>
                </a:solidFill>
                <a:latin typeface="Aptos"/>
              </a:defRPr>
            </a:pPr>
            <a:r>
              <a:t>• Face and eye fine-tuning lowered held-out activation MSE.</a:t>
            </a:r>
            <a:br/>
            <a:r>
              <a:t>• Candidate features had positive held-out part-box contrast.</a:t>
            </a:r>
          </a:p>
        </p:txBody>
      </p:sp>
      <p:sp>
        <p:nvSpPr>
          <p:cNvPr id="11" name="Rounded Rectangle 10"/>
          <p:cNvSpPr/>
          <p:nvPr/>
        </p:nvSpPr>
        <p:spPr>
          <a:xfrm>
            <a:off x="6172200" y="1783080"/>
            <a:ext cx="5120640" cy="137160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64008" cy="137160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920240"/>
            <a:ext cx="4754879" cy="310896"/>
          </a:xfrm>
          <a:prstGeom prst="rect">
            <a:avLst/>
          </a:prstGeom>
          <a:noFill/>
        </p:spPr>
        <p:txBody>
          <a:bodyPr wrap="square" lIns="18288" rIns="18288" tIns="9144" bIns="9144">
            <a:spAutoFit/>
          </a:bodyPr>
          <a:lstStyle/>
          <a:p>
            <a:pPr algn="l">
              <a:defRPr sz="1600" b="1">
                <a:solidFill>
                  <a:srgbClr val="17263A"/>
                </a:solidFill>
                <a:latin typeface="Aptos"/>
              </a:defRPr>
            </a:pPr>
            <a:r>
              <a:t>Still unknown</a:t>
            </a:r>
          </a:p>
        </p:txBody>
      </p:sp>
      <p:sp>
        <p:nvSpPr>
          <p:cNvPr id="14" name="TextBox 13"/>
          <p:cNvSpPr txBox="1"/>
          <p:nvPr/>
        </p:nvSpPr>
        <p:spPr>
          <a:xfrm>
            <a:off x="6373368" y="2313432"/>
            <a:ext cx="4754879" cy="731520"/>
          </a:xfrm>
          <a:prstGeom prst="rect">
            <a:avLst/>
          </a:prstGeom>
          <a:noFill/>
        </p:spPr>
        <p:txBody>
          <a:bodyPr wrap="square" lIns="18288" rIns="18288" tIns="9144" bIns="9144">
            <a:spAutoFit/>
          </a:bodyPr>
          <a:lstStyle/>
          <a:p>
            <a:pPr algn="l">
              <a:defRPr sz="1400" b="0">
                <a:solidFill>
                  <a:srgbClr val="283240"/>
                </a:solidFill>
                <a:latin typeface="Aptos"/>
              </a:defRPr>
            </a:pPr>
            <a:r>
              <a:t>• Whether a feature has a stable semantic meaning.</a:t>
            </a:r>
            <a:br/>
            <a:r>
              <a:t>• Whether changing it edits only that part.</a:t>
            </a:r>
            <a:br/>
            <a:r>
              <a:t>• Whether any fairness outcome improves.</a:t>
            </a:r>
          </a:p>
        </p:txBody>
      </p:sp>
      <p:sp>
        <p:nvSpPr>
          <p:cNvPr id="15" name="TextBox 14"/>
          <p:cNvSpPr txBox="1"/>
          <p:nvPr/>
        </p:nvSpPr>
        <p:spPr>
          <a:xfrm>
            <a:off x="822960" y="3703320"/>
            <a:ext cx="1828800" cy="329184"/>
          </a:xfrm>
          <a:prstGeom prst="rect">
            <a:avLst/>
          </a:prstGeom>
          <a:noFill/>
        </p:spPr>
        <p:txBody>
          <a:bodyPr wrap="square" lIns="18288" rIns="18288" tIns="9144" bIns="9144">
            <a:spAutoFit/>
          </a:bodyPr>
          <a:lstStyle/>
          <a:p>
            <a:pPr algn="l">
              <a:defRPr sz="1800" b="1">
                <a:solidFill>
                  <a:srgbClr val="17263A"/>
                </a:solidFill>
                <a:latin typeface="Aptos"/>
              </a:defRPr>
            </a:pPr>
            <a:r>
              <a:t>Next steps</a:t>
            </a:r>
          </a:p>
        </p:txBody>
      </p:sp>
      <p:sp>
        <p:nvSpPr>
          <p:cNvPr id="16" name="TextBox 15"/>
          <p:cNvSpPr txBox="1"/>
          <p:nvPr/>
        </p:nvSpPr>
        <p:spPr>
          <a:xfrm>
            <a:off x="868680" y="4160520"/>
            <a:ext cx="10424160" cy="1554480"/>
          </a:xfrm>
          <a:prstGeom prst="rect">
            <a:avLst/>
          </a:prstGeom>
          <a:noFill/>
        </p:spPr>
        <p:txBody>
          <a:bodyPr wrap="square" lIns="18288" rIns="18288" tIns="9144" bIns="9144">
            <a:spAutoFit/>
          </a:bodyPr>
          <a:lstStyle/>
          <a:p>
            <a:pPr algn="l">
              <a:defRPr sz="1700" b="0">
                <a:solidFill>
                  <a:srgbClr val="283240"/>
                </a:solidFill>
                <a:latin typeface="Aptos"/>
              </a:defRPr>
            </a:pPr>
            <a:r>
              <a:t>1. Audit detector boxes, especially nose and ear annotations.</a:t>
            </a:r>
            <a:br/>
            <a:r>
              <a:t>2. Expand part coverage and repeat held-out localization.</a:t>
            </a:r>
            <a:br/>
            <a:r>
              <a:t>3. If testing interventions, measure target presence and collateral changes directly.</a:t>
            </a:r>
            <a:br/>
            <a:r>
              <a:t>4. Evaluate any fairness claim with a separate, explicit fairness outcome.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Localizing face-related activations in a pretrained SAE</dc:title>
  <dc:subject>Face and eye SAE fine-tuning and held-out feature localization</dc:subject>
  <dc:creator>Research update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